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914400"/>
            <a:ext cx="621792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rIns="365760" tIns="365760" wrap="square"/>
          <a:lstStyle/>
          <a:p>
            <a:pPr algn="ctr">
              <a:defRPr sz="1200" b="1">
                <a:solidFill>
                  <a:srgbClr val="E65100"/>
                </a:solidFill>
              </a:defRPr>
            </a:pPr>
            <a:r>
              <a:t>SMART INDIA HACKATHON</a:t>
            </a:r>
          </a:p>
          <a:p>
            <a:pPr>
              <a:spcAft>
                <a:spcPts val="1400"/>
              </a:spcAft>
              <a:defRPr sz="2200" b="1">
                <a:solidFill>
                  <a:srgbClr val="0B2545"/>
                </a:solidFill>
              </a:defRPr>
            </a:pPr>
            <a:r>
              <a:t>ConG-MoE v2: Tanglish Sentiment Analysis System</a:t>
            </a:r>
          </a:p>
          <a:p>
            <a:pPr>
              <a:spcAft>
                <a:spcPts val="2000"/>
              </a:spcAft>
              <a:defRPr sz="1300">
                <a:solidFill>
                  <a:srgbClr val="212529"/>
                </a:solidFill>
              </a:defRPr>
            </a:pPr>
            <a:r>
              <a:t>Contrastive &amp; Discourse-Guided Mixture-of-Experts for Romanized Dravidian Code-Mixed Communications</a:t>
            </a:r>
          </a:p>
          <a:p>
            <a:pPr>
              <a:spcAft>
                <a:spcPts val="600"/>
              </a:spcAft>
              <a:defRPr sz="1200" b="1">
                <a:solidFill>
                  <a:srgbClr val="00897B"/>
                </a:solidFill>
              </a:defRPr>
            </a:pPr>
            <a:r>
              <a:t>Problem Statement: Real-Time AI Sentiment &amp; Public Grievance Analysis for Regional &amp; Code-Mixed Text</a:t>
            </a:r>
          </a:p>
          <a:p>
            <a:pPr>
              <a:defRPr sz="1100">
                <a:solidFill>
                  <a:srgbClr val="6C757D"/>
                </a:solidFill>
              </a:defRPr>
            </a:pPr>
            <a:r>
              <a:t>• Category / Theme: Smart Communication | Artificial Intelligence &amp; NLP</a:t>
            </a:r>
            <a:br/>
            <a:r>
              <a:t>• Institution: Sri Sivasubramaniya Nadar (SSN) College of Engineering, Chennai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0" y="914400"/>
            <a:ext cx="4206240" cy="53035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365760" wrap="square"/>
          <a:lstStyle/>
          <a:p>
            <a:pPr algn="ctr">
              <a:spcAft>
                <a:spcPts val="1000"/>
              </a:spcAft>
              <a:defRPr sz="1200" b="1">
                <a:solidFill>
                  <a:srgbClr val="00897B"/>
                </a:solidFill>
              </a:defRPr>
            </a:pPr>
            <a:r>
              <a:t>TEAM COMPOSITION</a:t>
            </a:r>
          </a:p>
          <a:p>
            <a:pPr>
              <a:defRPr sz="1100" b="1">
                <a:solidFill>
                  <a:srgbClr val="0B2545"/>
                </a:solidFill>
              </a:defRPr>
            </a:pPr>
            <a:r>
              <a:t>• Pragadheeshwar D (Lead)</a:t>
            </a:r>
          </a:p>
          <a:p>
            <a:pPr>
              <a:spcAft>
                <a:spcPts val="600"/>
              </a:spcAft>
              <a:defRPr sz="1000">
                <a:solidFill>
                  <a:srgbClr val="6C757D"/>
                </a:solidFill>
              </a:defRPr>
            </a:pPr>
            <a:r>
              <a:t>   Role: AI/NLP Architect &amp; Gated MoE</a:t>
            </a:r>
          </a:p>
          <a:p>
            <a:pPr>
              <a:defRPr sz="1100" b="1">
                <a:solidFill>
                  <a:srgbClr val="0B2545"/>
                </a:solidFill>
              </a:defRPr>
            </a:pPr>
            <a:r>
              <a:t>• Sriram G S</a:t>
            </a:r>
          </a:p>
          <a:p>
            <a:pPr>
              <a:spcAft>
                <a:spcPts val="600"/>
              </a:spcAft>
              <a:defRPr sz="1000">
                <a:solidFill>
                  <a:srgbClr val="6C757D"/>
                </a:solidFill>
              </a:defRPr>
            </a:pPr>
            <a:r>
              <a:t>   Role: Deep Learning &amp; Sequential Models</a:t>
            </a:r>
          </a:p>
          <a:p>
            <a:pPr>
              <a:defRPr sz="1100" b="1">
                <a:solidFill>
                  <a:srgbClr val="0B2545"/>
                </a:solidFill>
              </a:defRPr>
            </a:pPr>
            <a:r>
              <a:t>• Cibi K</a:t>
            </a:r>
          </a:p>
          <a:p>
            <a:pPr>
              <a:spcAft>
                <a:spcPts val="600"/>
              </a:spcAft>
              <a:defRPr sz="1000">
                <a:solidFill>
                  <a:srgbClr val="6C757D"/>
                </a:solidFill>
              </a:defRPr>
            </a:pPr>
            <a:r>
              <a:t>   Role: Full Stack Microservices &amp; APIs</a:t>
            </a:r>
          </a:p>
          <a:p>
            <a:pPr>
              <a:defRPr sz="1100" b="1">
                <a:solidFill>
                  <a:srgbClr val="0B2545"/>
                </a:solidFill>
              </a:defRPr>
            </a:pPr>
            <a:r>
              <a:t>• Sathiyarajan K</a:t>
            </a:r>
          </a:p>
          <a:p>
            <a:pPr>
              <a:spcAft>
                <a:spcPts val="600"/>
              </a:spcAft>
              <a:defRPr sz="1000">
                <a:solidFill>
                  <a:srgbClr val="6C757D"/>
                </a:solidFill>
              </a:defRPr>
            </a:pPr>
            <a:r>
              <a:t>   Role: Corpus Analytics &amp; Evaluation</a:t>
            </a:r>
          </a:p>
          <a:p>
            <a:pPr>
              <a:defRPr sz="1100" b="1">
                <a:solidFill>
                  <a:srgbClr val="0B2545"/>
                </a:solidFill>
              </a:defRPr>
            </a:pPr>
            <a:r>
              <a:t>• Team Member 5</a:t>
            </a:r>
          </a:p>
          <a:p>
            <a:pPr>
              <a:spcAft>
                <a:spcPts val="600"/>
              </a:spcAft>
              <a:defRPr sz="1000">
                <a:solidFill>
                  <a:srgbClr val="6C757D"/>
                </a:solidFill>
              </a:defRPr>
            </a:pPr>
            <a:r>
              <a:t>   Role: Frontend Analytics Dashboard</a:t>
            </a:r>
          </a:p>
          <a:p>
            <a:pPr>
              <a:defRPr sz="1100" b="1">
                <a:solidFill>
                  <a:srgbClr val="0B2545"/>
                </a:solidFill>
              </a:defRPr>
            </a:pPr>
            <a:r>
              <a:t>• Team Member 6</a:t>
            </a:r>
          </a:p>
          <a:p>
            <a:pPr>
              <a:spcAft>
                <a:spcPts val="600"/>
              </a:spcAft>
              <a:defRPr sz="1000">
                <a:solidFill>
                  <a:srgbClr val="6C757D"/>
                </a:solidFill>
              </a:defRPr>
            </a:pPr>
            <a:r>
              <a:t>   Role: DevOps &amp; Streaming Ingestion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97B"/>
                </a:solidFill>
              </a:defRPr>
            </a:pPr>
            <a:r>
              <a:t>SMART INDIA HACKATHON (SIH)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2545"/>
                </a:solidFill>
              </a:defRPr>
            </a:pPr>
            <a:r>
              <a:t>Proposed Solution &amp; Key Innovations (USP)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 wrap="square"/>
          <a:lstStyle/>
          <a:p>
            <a:pPr algn="ctr">
              <a:spcAft>
                <a:spcPts val="1000"/>
              </a:spcAft>
              <a:defRPr sz="1200" b="1">
                <a:solidFill>
                  <a:srgbClr val="E65100"/>
                </a:solidFill>
              </a:defRPr>
            </a:pPr>
            <a:r>
              <a:t>THE PROBLEM: THE ACCURACY PARADOX</a:t>
            </a:r>
          </a:p>
          <a:p>
            <a:pPr>
              <a:spcAft>
                <a:spcPts val="800"/>
              </a:spcAft>
              <a:defRPr sz="1100" b="1">
                <a:solidFill>
                  <a:srgbClr val="212529"/>
                </a:solidFill>
              </a:defRPr>
            </a:pPr>
            <a:r>
              <a:t>• Majority-Class Skew: </a:t>
            </a:r>
            <a:r>
              <a:rPr b="0">
                <a:solidFill>
                  <a:srgbClr val="6C757D"/>
                </a:solidFill>
              </a:rPr>
              <a:t>In vernacular social comments (Tanglish), ~70% are positive. Standard unweighted models achieve 78% accuracy by defaulting ambiguous cases to Positive.</a:t>
            </a:r>
          </a:p>
          <a:p>
            <a:pPr>
              <a:spcAft>
                <a:spcPts val="800"/>
              </a:spcAft>
              <a:defRPr sz="1100" b="1">
                <a:solidFill>
                  <a:srgbClr val="212529"/>
                </a:solidFill>
              </a:defRPr>
            </a:pPr>
            <a:r>
              <a:t>• Minority Sentiment Blindspot: </a:t>
            </a:r>
            <a:r>
              <a:rPr b="0">
                <a:solidFill>
                  <a:srgbClr val="6C757D"/>
                </a:solidFill>
              </a:rPr>
              <a:t>Over 75% of mixed/grievance feedback is misclassified as positive, rendering moderation and public grievance tools ineffective.</a:t>
            </a:r>
          </a:p>
          <a:p>
            <a:pPr>
              <a:spcAft>
                <a:spcPts val="800"/>
              </a:spcAft>
              <a:defRPr sz="1100" b="1">
                <a:solidFill>
                  <a:srgbClr val="212529"/>
                </a:solidFill>
              </a:defRPr>
            </a:pPr>
            <a:r>
              <a:t>• Unregulated Orthography: </a:t>
            </a:r>
            <a:r>
              <a:rPr b="0">
                <a:solidFill>
                  <a:srgbClr val="6C757D"/>
                </a:solidFill>
              </a:rPr>
              <a:t>Spelling drifts freely (e.g., 'padam / batham') causing 85.8% Out-of-Vocabulary (OOV) rates with standard tokenizers.</a:t>
            </a:r>
          </a:p>
          <a:p>
            <a:pPr>
              <a:spcAft>
                <a:spcPts val="800"/>
              </a:spcAft>
              <a:defRPr sz="1100" b="1">
                <a:solidFill>
                  <a:srgbClr val="212529"/>
                </a:solidFill>
              </a:defRPr>
            </a:pPr>
            <a:r>
              <a:t>• Bipartite Sentiment Flips: </a:t>
            </a:r>
            <a:r>
              <a:rPr b="0">
                <a:solidFill>
                  <a:srgbClr val="6C757D"/>
                </a:solidFill>
              </a:rPr>
              <a:t>Sentences like 'Trailer sema aana padam mokka' are mislabeled as positive because bag-of-words ignores adversative conjunctions ('aana').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 wrap="square"/>
          <a:lstStyle/>
          <a:p>
            <a:pPr algn="ctr">
              <a:spcAft>
                <a:spcPts val="1000"/>
              </a:spcAft>
              <a:defRPr sz="1200" b="1">
                <a:solidFill>
                  <a:srgbClr val="00897B"/>
                </a:solidFill>
              </a:defRPr>
            </a:pPr>
            <a:r>
              <a:t>OUR SOLUTION: ConG-MoE v2 ARCHITECTURE</a:t>
            </a:r>
          </a:p>
          <a:p>
            <a:pPr>
              <a:spcAft>
                <a:spcPts val="800"/>
              </a:spcAft>
              <a:defRPr sz="1100" b="1">
                <a:solidFill>
                  <a:srgbClr val="0B2545"/>
                </a:solidFill>
              </a:defRPr>
            </a:pPr>
            <a:r>
              <a:t>✔ Affect-Preserving Demojization: </a:t>
            </a:r>
            <a:r>
              <a:rPr b="0">
                <a:solidFill>
                  <a:srgbClr val="6C757D"/>
                </a:solidFill>
              </a:rPr>
              <a:t>Translates emojis (🔥, 🤮, 💔) into descriptive semantic tokens before stripping, preserving critical sentiment signals.</a:t>
            </a:r>
          </a:p>
          <a:p>
            <a:pPr>
              <a:spcAft>
                <a:spcPts val="800"/>
              </a:spcAft>
              <a:defRPr sz="1100" b="1">
                <a:solidFill>
                  <a:srgbClr val="0B2545"/>
                </a:solidFill>
              </a:defRPr>
            </a:pPr>
            <a:r>
              <a:t>✔ Dual-Stream Sub-Word Encodings: </a:t>
            </a:r>
            <a:r>
              <a:rPr b="0">
                <a:solidFill>
                  <a:srgbClr val="6C757D"/>
                </a:solidFill>
              </a:rPr>
              <a:t>Combines word n-grams with word-bounded character n-grams (char_wb 2-4), boosting lexical coverage from 14.2% to &gt;99.4%.</a:t>
            </a:r>
          </a:p>
          <a:p>
            <a:pPr>
              <a:spcAft>
                <a:spcPts val="800"/>
              </a:spcAft>
              <a:defRPr sz="1100" b="1">
                <a:solidFill>
                  <a:srgbClr val="0B2545"/>
                </a:solidFill>
              </a:defRPr>
            </a:pPr>
            <a:r>
              <a:t>✔ Cost-Sensitive Loss Optimization: </a:t>
            </a:r>
            <a:r>
              <a:rPr b="0">
                <a:solidFill>
                  <a:srgbClr val="6C757D"/>
                </a:solidFill>
              </a:rPr>
              <a:t>Imposes a 12.5× higher penalty on minority class misclassifications, directly solving majority bias.</a:t>
            </a:r>
          </a:p>
          <a:p>
            <a:pPr>
              <a:spcAft>
                <a:spcPts val="800"/>
              </a:spcAft>
              <a:defRPr sz="1100" b="1">
                <a:solidFill>
                  <a:srgbClr val="0B2545"/>
                </a:solidFill>
              </a:defRPr>
            </a:pPr>
            <a:r>
              <a:t>✔ 3-Head Soft Gated Mixture of Experts: </a:t>
            </a:r>
            <a:r>
              <a:rPr b="0">
                <a:solidFill>
                  <a:srgbClr val="6C757D"/>
                </a:solidFill>
              </a:rPr>
              <a:t>Pairs a fast base classifier with specialized heads targeting adversative conjunctions ('aana') and emoji polarity conflicts.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97B"/>
                </a:solidFill>
              </a:defRPr>
            </a:pPr>
            <a:r>
              <a:t>SMART INDIA HACKATHON (SIH)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2545"/>
                </a:solidFill>
              </a:defRPr>
            </a:pPr>
            <a:r>
              <a:t>Technical Approach &amp; System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685800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 wrap="square"/>
          <a:lstStyle/>
          <a:p>
            <a:pPr algn="ctr">
              <a:spcAft>
                <a:spcPts val="800"/>
              </a:spcAft>
              <a:defRPr sz="1200" b="1">
                <a:solidFill>
                  <a:srgbClr val="0B2545"/>
                </a:solidFill>
              </a:defRPr>
            </a:pPr>
            <a:r>
              <a:t>END-TO-END SYSTEM PIPELINE</a:t>
            </a:r>
          </a:p>
          <a:p>
            <a:pPr>
              <a:defRPr sz="1100" b="1">
                <a:solidFill>
                  <a:srgbClr val="00897B"/>
                </a:solidFill>
              </a:defRPr>
            </a:pPr>
            <a:r>
              <a:t>1. Data Ingestion &amp; Demojization</a:t>
            </a:r>
          </a:p>
          <a:p>
            <a:pPr>
              <a:spcAft>
                <a:spcPts val="600"/>
              </a:spcAft>
              <a:defRPr sz="1000">
                <a:solidFill>
                  <a:srgbClr val="6C757D"/>
                </a:solidFill>
              </a:defRPr>
            </a:pPr>
            <a:r>
              <a:t>Cleans raw social strings, expands colloquial abbreviations, translates emojis into affective tokens (e.g. 🤮 -&gt; EMOJI_DISGUST).</a:t>
            </a:r>
          </a:p>
          <a:p>
            <a:pPr>
              <a:defRPr sz="1100" b="1">
                <a:solidFill>
                  <a:srgbClr val="00897B"/>
                </a:solidFill>
              </a:defRPr>
            </a:pPr>
            <a:r>
              <a:t>2. Dual-Stream Vectorization</a:t>
            </a:r>
          </a:p>
          <a:p>
            <a:pPr>
              <a:spcAft>
                <a:spcPts val="600"/>
              </a:spcAft>
              <a:defRPr sz="1000">
                <a:solidFill>
                  <a:srgbClr val="6C757D"/>
                </a:solidFill>
              </a:defRPr>
            </a:pPr>
            <a:r>
              <a:t>Dual extraction: Word Bigrams for semantic phrases + Character n-grams (char_wb 2-4) to absorb morphological suffixation (-la, -oda).</a:t>
            </a:r>
          </a:p>
          <a:p>
            <a:pPr>
              <a:defRPr sz="1100" b="1">
                <a:solidFill>
                  <a:srgbClr val="00897B"/>
                </a:solidFill>
              </a:defRPr>
            </a:pPr>
            <a:r>
              <a:t>3. Soft Gated Mixture of Experts</a:t>
            </a:r>
          </a:p>
          <a:p>
            <a:pPr>
              <a:spcAft>
                <a:spcPts val="600"/>
              </a:spcAft>
              <a:defRPr sz="1000">
                <a:solidFill>
                  <a:srgbClr val="6C757D"/>
                </a:solidFill>
              </a:defRPr>
            </a:pPr>
            <a:r>
              <a:t>• Head 1 (Base): Cost-sensitive weighted classifier (12.5x penalty)</a:t>
            </a:r>
            <a:br/>
            <a:r>
              <a:t>• Head 2 (Discourse): Detects contrastive pivot particles ('aana', 'irundhalum')</a:t>
            </a:r>
            <a:br/>
            <a:r>
              <a:t>• Head 3 (Emoji Conflict): Flags discordance between text &amp; emoji polarity</a:t>
            </a:r>
          </a:p>
          <a:p>
            <a:pPr>
              <a:defRPr sz="1100" b="1">
                <a:solidFill>
                  <a:srgbClr val="00897B"/>
                </a:solidFill>
              </a:defRPr>
            </a:pPr>
            <a:r>
              <a:t>4. Calibrated Output &amp; Delivery</a:t>
            </a:r>
          </a:p>
          <a:p>
            <a:pPr>
              <a:spcAft>
                <a:spcPts val="600"/>
              </a:spcAft>
              <a:defRPr sz="1000">
                <a:solidFill>
                  <a:srgbClr val="6C757D"/>
                </a:solidFill>
              </a:defRPr>
            </a:pPr>
            <a:r>
              <a:t>Produces multi-class probabilities (Positive, Negative, Mixed Feelings, Unknown State) with sub-millisecond latency (&lt;0.33 ms).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1371600"/>
            <a:ext cx="356616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20040" rIns="320040" tIns="320040" wrap="square"/>
          <a:lstStyle/>
          <a:p>
            <a:pPr algn="ctr">
              <a:spcAft>
                <a:spcPts val="1000"/>
              </a:spcAft>
              <a:defRPr sz="1200" b="1">
                <a:solidFill>
                  <a:srgbClr val="0B2545"/>
                </a:solidFill>
              </a:defRPr>
            </a:pPr>
            <a:r>
              <a:t>TECHNOLOGY STACK</a:t>
            </a:r>
          </a:p>
          <a:p>
            <a:pPr>
              <a:defRPr sz="1100" b="1">
                <a:solidFill>
                  <a:srgbClr val="212529"/>
                </a:solidFill>
              </a:defRPr>
            </a:pPr>
            <a:r>
              <a:t>Machine Learning:</a:t>
            </a:r>
          </a:p>
          <a:p>
            <a:pPr>
              <a:spcAft>
                <a:spcPts val="600"/>
              </a:spcAft>
              <a:defRPr sz="1000">
                <a:solidFill>
                  <a:srgbClr val="6C757D"/>
                </a:solidFill>
              </a:defRPr>
            </a:pPr>
            <a:r>
              <a:t>Scikit-Learn, PyTorch, NumPy, SciPy</a:t>
            </a:r>
          </a:p>
          <a:p>
            <a:pPr>
              <a:defRPr sz="1100" b="1">
                <a:solidFill>
                  <a:srgbClr val="212529"/>
                </a:solidFill>
              </a:defRPr>
            </a:pPr>
            <a:r>
              <a:t>Inference Engine:</a:t>
            </a:r>
          </a:p>
          <a:p>
            <a:pPr>
              <a:spcAft>
                <a:spcPts val="600"/>
              </a:spcAft>
              <a:defRPr sz="1000">
                <a:solidFill>
                  <a:srgbClr val="6C757D"/>
                </a:solidFill>
              </a:defRPr>
            </a:pPr>
            <a:r>
              <a:t>Serialized ConG-MoE v2 Model (.pkl)</a:t>
            </a:r>
          </a:p>
          <a:p>
            <a:pPr>
              <a:defRPr sz="1100" b="1">
                <a:solidFill>
                  <a:srgbClr val="212529"/>
                </a:solidFill>
              </a:defRPr>
            </a:pPr>
            <a:r>
              <a:t>Backend Services:</a:t>
            </a:r>
          </a:p>
          <a:p>
            <a:pPr>
              <a:spcAft>
                <a:spcPts val="600"/>
              </a:spcAft>
              <a:defRPr sz="1000">
                <a:solidFill>
                  <a:srgbClr val="6C757D"/>
                </a:solidFill>
              </a:defRPr>
            </a:pPr>
            <a:r>
              <a:t>FastAPI (Asynchronous REST API)</a:t>
            </a:r>
          </a:p>
          <a:p>
            <a:pPr>
              <a:defRPr sz="1100" b="1">
                <a:solidFill>
                  <a:srgbClr val="212529"/>
                </a:solidFill>
              </a:defRPr>
            </a:pPr>
            <a:r>
              <a:t>Dashboard / UI:</a:t>
            </a:r>
          </a:p>
          <a:p>
            <a:pPr>
              <a:spcAft>
                <a:spcPts val="600"/>
              </a:spcAft>
              <a:defRPr sz="1000">
                <a:solidFill>
                  <a:srgbClr val="6C757D"/>
                </a:solidFill>
              </a:defRPr>
            </a:pPr>
            <a:r>
              <a:t>Interactive Web App &amp; Terminal CLI</a:t>
            </a:r>
          </a:p>
          <a:p>
            <a:pPr>
              <a:defRPr sz="1100" b="1">
                <a:solidFill>
                  <a:srgbClr val="212529"/>
                </a:solidFill>
              </a:defRPr>
            </a:pPr>
            <a:r>
              <a:t>Deployment:</a:t>
            </a:r>
          </a:p>
          <a:p>
            <a:pPr>
              <a:spcAft>
                <a:spcPts val="600"/>
              </a:spcAft>
              <a:defRPr sz="1000">
                <a:solidFill>
                  <a:srgbClr val="6C757D"/>
                </a:solidFill>
              </a:defRPr>
            </a:pPr>
            <a:r>
              <a:t>Docker Container / CPU-Only Hosting</a:t>
            </a:r>
          </a:p>
          <a:p>
            <a:pPr>
              <a:defRPr sz="1100" b="1">
                <a:solidFill>
                  <a:srgbClr val="212529"/>
                </a:solidFill>
              </a:defRPr>
            </a:pPr>
            <a:r>
              <a:t>Throughput:</a:t>
            </a:r>
          </a:p>
          <a:p>
            <a:pPr>
              <a:spcAft>
                <a:spcPts val="600"/>
              </a:spcAft>
              <a:defRPr sz="1000">
                <a:solidFill>
                  <a:srgbClr val="6C757D"/>
                </a:solidFill>
              </a:defRPr>
            </a:pPr>
            <a:r>
              <a:t>&gt;3,000 comments/sec on single CPU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97B"/>
                </a:solidFill>
              </a:defRPr>
            </a:pPr>
            <a:r>
              <a:t>SMART INDIA HACKATHON (SIH)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2545"/>
                </a:solidFill>
              </a:defRPr>
            </a:pPr>
            <a:r>
              <a:t>Feasibility, Viability &amp; Key Challenges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69848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474720"/>
                <a:gridCol w="4297680"/>
              </a:tblGrid>
              <a:tr h="11887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Key Operational Challenge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Practical Risk in Deployment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Engineered Mitigation Strategy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Severe Class Imbalance</a:t>
                      </a:r>
                      <a:br/>
                      <a:r>
                        <a:t>(~70% Positive comments)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Standard ML defaults to majority class; critical grievances are ignored as 'Positive'.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Cost-Sensitive Learning: Inverse-frequency class weights penalize minority errors 12.5× harder.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Unregulated Phonetic Spelling</a:t>
                      </a:r>
                      <a:br/>
                      <a:r>
                        <a:t>&amp; Morphological Suffixation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Spelling mutations (padam/batham) yield 85.8% out-of-vocabulary rate with word tokenizers.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Bounded Character n-grams (char_wb 2-4): Learns root morphemes without cross-word noise.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Bipartite Sentiments &amp;</a:t>
                      </a:r>
                      <a:br/>
                      <a:r>
                        <a:t>Contrastive Conjunctions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Bag-of-words ignores shift words like 'aana' (but) and misses polarity flips in comments.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Gated Adversative Expert: Specifically inspects discourse pivot particles to re-weight post-pivot clauses.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97B"/>
                </a:solidFill>
              </a:defRPr>
            </a:pPr>
            <a:r>
              <a:t>SMART INDIA HACKATHON (SIH)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2545"/>
                </a:solidFill>
              </a:defRPr>
            </a:pPr>
            <a:r>
              <a:t>Performance Benchmark &amp; Comparative Impact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6984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188720"/>
                <a:gridCol w="1188720"/>
                <a:gridCol w="1371600"/>
                <a:gridCol w="1371600"/>
                <a:gridCol w="1371600"/>
                <a:gridCol w="128016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Architecture / Paradigm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Macro-F1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Mixed Recall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Unknown Recall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Collapse-&gt;Pos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CPU Latency</a:t>
                      </a:r>
                    </a:p>
                  </a:txBody>
                  <a:tcPr>
                    <a:solidFill>
                      <a:srgbClr val="0B254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1. TF-IDF + Logistic Reg (Baseline)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77.60%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0.5256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20.55%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21.66%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75.00%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0.007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2. BiLSTM (Sequential DL)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78.86%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0.6168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40.24%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40.07%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43.84%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0.555 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3. CNN + BiLSTM (Shanmugavadivel)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86.12%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0.7578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64.55%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72.20%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28.42%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1.987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4. ConG-Hybrid (Our Demojized DL)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69.30%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0.6476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82.19%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77.62%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8.73%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212529"/>
                          </a:solidFill>
                        </a:defRPr>
                      </a:pPr>
                      <a:r>
                        <a:t>1.870 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B2545"/>
                          </a:solidFill>
                        </a:defRPr>
                      </a:pPr>
                      <a:r>
                        <a:t>5. ConG-MoE v2 (Our Flagship)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B2545"/>
                          </a:solidFill>
                        </a:defRPr>
                      </a:pPr>
                      <a:r>
                        <a:t>77.48%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B2545"/>
                          </a:solidFill>
                        </a:defRPr>
                      </a:pPr>
                      <a:r>
                        <a:t>0.6887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B2545"/>
                          </a:solidFill>
                        </a:defRPr>
                      </a:pPr>
                      <a:r>
                        <a:t>74.49%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B2545"/>
                          </a:solidFill>
                        </a:defRPr>
                      </a:pPr>
                      <a:r>
                        <a:t>80.51%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B2545"/>
                          </a:solidFill>
                        </a:defRPr>
                      </a:pPr>
                      <a:r>
                        <a:t>14.04%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0B2545"/>
                          </a:solidFill>
                        </a:defRPr>
                      </a:pPr>
                      <a:r>
                        <a:t>0.327 ms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31520" y="4846320"/>
            <a:ext cx="106984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E65100"/>
                </a:solidFill>
              </a:defRPr>
            </a:pPr>
            <a:r>
              <a:t>REAL-WORLD SOCIETAL &amp; OPERATIONAL IMPACT:</a:t>
            </a:r>
          </a:p>
          <a:p>
            <a:pPr>
              <a:defRPr sz="1000">
                <a:solidFill>
                  <a:srgbClr val="212529"/>
                </a:solidFill>
              </a:defRPr>
            </a:pPr>
            <a:r>
              <a:t>• Grievance Identification: Slashes false-positive bias, catching 74.5% of mixed/critical feedback that traditional NLP ignores.</a:t>
            </a:r>
            <a:br/>
            <a:r>
              <a:t>• Low Cost &amp; Ultra-Fast: Operates at 0.327 ms on commodity CPUs (&gt;3,000 req/sec) without requiring expensive enterprise GPUs.</a:t>
            </a:r>
            <a:br/>
            <a:r>
              <a:t>• Content Moderation: Accurately flags toxicity, hate speech, and regional sarcasm in digital governance and social media monitoring.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897B"/>
                </a:solidFill>
              </a:defRPr>
            </a:pPr>
            <a:r>
              <a:t>SMART INDIA HACKATHON (SIH)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B2545"/>
                </a:solidFill>
              </a:defRPr>
            </a:pPr>
            <a:r>
              <a:t>Dependencies, Implementation Roadmap &amp; Scalability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897B"/>
                </a:solidFill>
              </a:defRPr>
            </a:pPr>
            <a:r>
              <a:t>CURRENT READINESS STATUS (TRL 5 - VALIDATED IN RELEVANT ENVIRONMENT)</a:t>
            </a:r>
          </a:p>
          <a:p>
            <a:pPr>
              <a:defRPr sz="1000">
                <a:solidFill>
                  <a:srgbClr val="6C757D"/>
                </a:solidFill>
              </a:defRPr>
            </a:pPr>
            <a:r>
              <a:t>✔ Model &amp; Pipeline: Fully trained, benchmarked across 20,000 comments, serialized to lightweight artifacts.</a:t>
            </a:r>
            <a:br/>
            <a:r>
              <a:t>✔ Working Software Prototype: Interactive Web App (http://localhost:5050) &amp; CLI predictor tested and ready for live demonstration.</a:t>
            </a:r>
            <a:br/>
            <a:r>
              <a:t>✔ Dependencies: Minimal, open-source stack (Python, Scikit-Learn, FastAPI) with zero proprietary API lock-ins.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wrap="square"/>
          <a:lstStyle/>
          <a:p>
            <a:pPr algn="ctr">
              <a:defRPr sz="1100" b="1">
                <a:solidFill>
                  <a:srgbClr val="00897B"/>
                </a:solidFill>
              </a:defRPr>
            </a:pPr>
            <a:r>
              <a:t>PHASE 1: HACKATHON MVP</a:t>
            </a:r>
          </a:p>
          <a:p>
            <a:pPr>
              <a:spcAft>
                <a:spcPts val="800"/>
              </a:spcAft>
              <a:defRPr sz="950">
                <a:solidFill>
                  <a:srgbClr val="6C757D"/>
                </a:solidFill>
              </a:defRPr>
            </a:pPr>
            <a:r>
              <a:t>Current Stage</a:t>
            </a:r>
          </a:p>
          <a:p>
            <a:pPr>
              <a:spcAft>
                <a:spcPts val="400"/>
              </a:spcAft>
              <a:defRPr sz="950">
                <a:solidFill>
                  <a:srgbClr val="212529"/>
                </a:solidFill>
              </a:defRPr>
            </a:pPr>
            <a:r>
              <a:t>• Standalone CPU-based ConG-MoE engine</a:t>
            </a:r>
          </a:p>
          <a:p>
            <a:pPr>
              <a:spcAft>
                <a:spcPts val="400"/>
              </a:spcAft>
              <a:defRPr sz="950">
                <a:solidFill>
                  <a:srgbClr val="212529"/>
                </a:solidFill>
              </a:defRPr>
            </a:pPr>
            <a:r>
              <a:t>• Interactive Web GUI with real-time feedback</a:t>
            </a:r>
          </a:p>
          <a:p>
            <a:pPr>
              <a:spcAft>
                <a:spcPts val="400"/>
              </a:spcAft>
              <a:defRPr sz="950">
                <a:solidFill>
                  <a:srgbClr val="212529"/>
                </a:solidFill>
              </a:defRPr>
            </a:pPr>
            <a:r>
              <a:t>• Explainable confidence scores &amp; emoji breakdown</a:t>
            </a:r>
          </a:p>
          <a:p>
            <a:pPr>
              <a:spcAft>
                <a:spcPts val="400"/>
              </a:spcAft>
              <a:defRPr sz="950">
                <a:solidFill>
                  <a:srgbClr val="212529"/>
                </a:solidFill>
              </a:defRPr>
            </a:pPr>
            <a:r>
              <a:t>• Tested on 20,000 annotated comment corpus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74320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wrap="square"/>
          <a:lstStyle/>
          <a:p>
            <a:pPr algn="ctr">
              <a:defRPr sz="1100" b="1">
                <a:solidFill>
                  <a:srgbClr val="0B2545"/>
                </a:solidFill>
              </a:defRPr>
            </a:pPr>
            <a:r>
              <a:t>PHASE 2: ENTERPRISE INTEGRATION</a:t>
            </a:r>
          </a:p>
          <a:p>
            <a:pPr>
              <a:spcAft>
                <a:spcPts val="800"/>
              </a:spcAft>
              <a:defRPr sz="950">
                <a:solidFill>
                  <a:srgbClr val="6C757D"/>
                </a:solidFill>
              </a:defRPr>
            </a:pPr>
            <a:r>
              <a:t>Months 1–3</a:t>
            </a:r>
          </a:p>
          <a:p>
            <a:pPr>
              <a:spcAft>
                <a:spcPts val="400"/>
              </a:spcAft>
              <a:defRPr sz="950">
                <a:solidFill>
                  <a:srgbClr val="212529"/>
                </a:solidFill>
              </a:defRPr>
            </a:pPr>
            <a:r>
              <a:t>• Streaming connectors (YouTube Data API &amp; Twitter firehose)</a:t>
            </a:r>
          </a:p>
          <a:p>
            <a:pPr>
              <a:spcAft>
                <a:spcPts val="400"/>
              </a:spcAft>
              <a:defRPr sz="950">
                <a:solidFill>
                  <a:srgbClr val="212529"/>
                </a:solidFill>
              </a:defRPr>
            </a:pPr>
            <a:r>
              <a:t>• Asynchronous message queue (Redis / Celery)</a:t>
            </a:r>
          </a:p>
          <a:p>
            <a:pPr>
              <a:spcAft>
                <a:spcPts val="400"/>
              </a:spcAft>
              <a:defRPr sz="950">
                <a:solidFill>
                  <a:srgbClr val="212529"/>
                </a:solidFill>
              </a:defRPr>
            </a:pPr>
            <a:r>
              <a:t>• Containerized deployment via Docker / Kubernetes</a:t>
            </a:r>
          </a:p>
          <a:p>
            <a:pPr>
              <a:spcAft>
                <a:spcPts val="400"/>
              </a:spcAft>
              <a:defRPr sz="950">
                <a:solidFill>
                  <a:srgbClr val="212529"/>
                </a:solidFill>
              </a:defRPr>
            </a:pPr>
            <a:r>
              <a:t>• Automated drift detection &amp; active learning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743200"/>
            <a:ext cx="33832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 tIns="228600" wrap="square"/>
          <a:lstStyle/>
          <a:p>
            <a:pPr algn="ctr">
              <a:defRPr sz="1100" b="1">
                <a:solidFill>
                  <a:srgbClr val="E65100"/>
                </a:solidFill>
              </a:defRPr>
            </a:pPr>
            <a:r>
              <a:t>PHASE 3: MULTILINGUAL SCALE</a:t>
            </a:r>
          </a:p>
          <a:p>
            <a:pPr>
              <a:spcAft>
                <a:spcPts val="800"/>
              </a:spcAft>
              <a:defRPr sz="950">
                <a:solidFill>
                  <a:srgbClr val="6C757D"/>
                </a:solidFill>
              </a:defRPr>
            </a:pPr>
            <a:r>
              <a:t>Months 4–6</a:t>
            </a:r>
          </a:p>
          <a:p>
            <a:pPr>
              <a:spcAft>
                <a:spcPts val="400"/>
              </a:spcAft>
              <a:defRPr sz="950">
                <a:solidFill>
                  <a:srgbClr val="212529"/>
                </a:solidFill>
              </a:defRPr>
            </a:pPr>
            <a:r>
              <a:t>• Zero-shot transfer to Manglish &amp; Kanglish</a:t>
            </a:r>
          </a:p>
          <a:p>
            <a:pPr>
              <a:spcAft>
                <a:spcPts val="400"/>
              </a:spcAft>
              <a:defRPr sz="950">
                <a:solidFill>
                  <a:srgbClr val="212529"/>
                </a:solidFill>
              </a:defRPr>
            </a:pPr>
            <a:r>
              <a:t>• Civic grievance dashboard for public administration</a:t>
            </a:r>
          </a:p>
          <a:p>
            <a:pPr>
              <a:spcAft>
                <a:spcPts val="400"/>
              </a:spcAft>
              <a:defRPr sz="950">
                <a:solidFill>
                  <a:srgbClr val="212529"/>
                </a:solidFill>
              </a:defRPr>
            </a:pPr>
            <a:r>
              <a:t>• Speech-to-Text integration via Whisper-Indic</a:t>
            </a:r>
          </a:p>
          <a:p>
            <a:pPr>
              <a:spcAft>
                <a:spcPts val="400"/>
              </a:spcAft>
              <a:defRPr sz="950">
                <a:solidFill>
                  <a:srgbClr val="212529"/>
                </a:solidFill>
              </a:defRPr>
            </a:pPr>
            <a:r>
              <a:t>• Edge deployment on low-cost IoT / Raspberry Pi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