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5C75333D-A96E-CA9B-EF68-4E174C754FA3}">
          <p14:sldIdLst>
            <p14:sldId id="256"/>
            <p14:sldId id="257"/>
          </p14:sldIdLst>
        </p14:section>
        <p14:section name="Method" id="{7AC0B7FB-47B8-05A1-BA3D-30AEA862929C}">
          <p14:sldIdLst>
            <p14:sldId id="258"/>
            <p14:sldId id="259"/>
          </p14:sldIdLst>
        </p14:section>
        <p14:section name="Results &amp; Conclusion" id="{1D07EB13-D2DF-233E-4D9A-84B7DE497856}">
          <p14:sldIdLst>
            <p14:sldId id="260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247"/>
    <a:srgbClr val="FFDD6E"/>
    <a:srgbClr val="FFFFFF"/>
    <a:srgbClr val="99EC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805110-DDDC-4868-91F6-9D9FDE28BA82}" v="47" dt="2026-10-22T08:39:18.2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101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ibi K" userId="b86c7c0fe473c924" providerId="LiveId" clId="{11DC6C86-ACA3-432F-AD7B-162CF0AA3B6D}"/>
    <pc:docChg chg="undo custSel modSld">
      <pc:chgData name="Cibi K" userId="b86c7c0fe473c924" providerId="LiveId" clId="{11DC6C86-ACA3-432F-AD7B-162CF0AA3B6D}" dt="2026-10-22T08:43:54.090" v="191" actId="1076"/>
      <pc:docMkLst>
        <pc:docMk/>
      </pc:docMkLst>
      <pc:sldChg chg="addSp delSp modSp mod">
        <pc:chgData name="Cibi K" userId="b86c7c0fe473c924" providerId="LiveId" clId="{11DC6C86-ACA3-432F-AD7B-162CF0AA3B6D}" dt="2026-10-22T08:43:54.090" v="191" actId="1076"/>
        <pc:sldMkLst>
          <pc:docMk/>
          <pc:sldMk cId="0" sldId="256"/>
        </pc:sldMkLst>
        <pc:spChg chg="add del">
          <ac:chgData name="Cibi K" userId="b86c7c0fe473c924" providerId="LiveId" clId="{11DC6C86-ACA3-432F-AD7B-162CF0AA3B6D}" dt="2026-10-22T08:43:10.458" v="184" actId="21"/>
          <ac:spMkLst>
            <pc:docMk/>
            <pc:sldMk cId="0" sldId="256"/>
            <ac:spMk id="19" creationId="{00000000-0000-0000-0000-000000000000}"/>
          </ac:spMkLst>
        </pc:spChg>
        <pc:spChg chg="mod">
          <ac:chgData name="Cibi K" userId="b86c7c0fe473c924" providerId="LiveId" clId="{11DC6C86-ACA3-432F-AD7B-162CF0AA3B6D}" dt="2026-10-22T08:42:59.402" v="182" actId="20577"/>
          <ac:spMkLst>
            <pc:docMk/>
            <pc:sldMk cId="0" sldId="256"/>
            <ac:spMk id="23" creationId="{00000000-0000-0000-0000-000000000000}"/>
          </ac:spMkLst>
        </pc:spChg>
        <pc:spChg chg="mod">
          <ac:chgData name="Cibi K" userId="b86c7c0fe473c924" providerId="LiveId" clId="{11DC6C86-ACA3-432F-AD7B-162CF0AA3B6D}" dt="2026-10-22T08:42:51.312" v="179" actId="20577"/>
          <ac:spMkLst>
            <pc:docMk/>
            <pc:sldMk cId="0" sldId="256"/>
            <ac:spMk id="30" creationId="{00000000-0000-0000-0000-000000000000}"/>
          </ac:spMkLst>
        </pc:spChg>
        <pc:spChg chg="mod">
          <ac:chgData name="Cibi K" userId="b86c7c0fe473c924" providerId="LiveId" clId="{11DC6C86-ACA3-432F-AD7B-162CF0AA3B6D}" dt="2026-10-22T08:42:56.382" v="181" actId="20577"/>
          <ac:spMkLst>
            <pc:docMk/>
            <pc:sldMk cId="0" sldId="256"/>
            <ac:spMk id="32" creationId="{00000000-0000-0000-0000-000000000000}"/>
          </ac:spMkLst>
        </pc:spChg>
        <pc:spChg chg="mod">
          <ac:chgData name="Cibi K" userId="b86c7c0fe473c924" providerId="LiveId" clId="{11DC6C86-ACA3-432F-AD7B-162CF0AA3B6D}" dt="2026-10-22T08:43:54.090" v="191" actId="1076"/>
          <ac:spMkLst>
            <pc:docMk/>
            <pc:sldMk cId="0" sldId="256"/>
            <ac:spMk id="34" creationId="{2CCB184A-8FB4-ABD3-213E-FA3660C80F0E}"/>
          </ac:spMkLst>
        </pc:spChg>
        <pc:spChg chg="add mod ord">
          <ac:chgData name="Cibi K" userId="b86c7c0fe473c924" providerId="LiveId" clId="{11DC6C86-ACA3-432F-AD7B-162CF0AA3B6D}" dt="2026-10-22T08:43:51.591" v="190" actId="1076"/>
          <ac:spMkLst>
            <pc:docMk/>
            <pc:sldMk cId="0" sldId="256"/>
            <ac:spMk id="36" creationId="{EA9FC482-7486-B98E-C4BC-64FAA7BB5527}"/>
          </ac:spMkLst>
        </pc:spChg>
      </pc:sldChg>
      <pc:sldChg chg="modSp mod">
        <pc:chgData name="Cibi K" userId="b86c7c0fe473c924" providerId="LiveId" clId="{11DC6C86-ACA3-432F-AD7B-162CF0AA3B6D}" dt="2026-10-22T08:42:43.394" v="177" actId="1076"/>
        <pc:sldMkLst>
          <pc:docMk/>
          <pc:sldMk cId="0" sldId="257"/>
        </pc:sldMkLst>
        <pc:spChg chg="mod">
          <ac:chgData name="Cibi K" userId="b86c7c0fe473c924" providerId="LiveId" clId="{11DC6C86-ACA3-432F-AD7B-162CF0AA3B6D}" dt="2026-10-22T08:42:13.684" v="171" actId="1076"/>
          <ac:spMkLst>
            <pc:docMk/>
            <pc:sldMk cId="0" sldId="257"/>
            <ac:spMk id="14" creationId="{00000000-0000-0000-0000-000000000000}"/>
          </ac:spMkLst>
        </pc:spChg>
        <pc:spChg chg="mod">
          <ac:chgData name="Cibi K" userId="b86c7c0fe473c924" providerId="LiveId" clId="{11DC6C86-ACA3-432F-AD7B-162CF0AA3B6D}" dt="2026-10-22T08:42:18.684" v="172" actId="14100"/>
          <ac:spMkLst>
            <pc:docMk/>
            <pc:sldMk cId="0" sldId="257"/>
            <ac:spMk id="19" creationId="{00000000-0000-0000-0000-000000000000}"/>
          </ac:spMkLst>
        </pc:spChg>
        <pc:spChg chg="mod">
          <ac:chgData name="Cibi K" userId="b86c7c0fe473c924" providerId="LiveId" clId="{11DC6C86-ACA3-432F-AD7B-162CF0AA3B6D}" dt="2026-10-22T08:41:42.007" v="165" actId="255"/>
          <ac:spMkLst>
            <pc:docMk/>
            <pc:sldMk cId="0" sldId="257"/>
            <ac:spMk id="20" creationId="{00000000-0000-0000-0000-000000000000}"/>
          </ac:spMkLst>
        </pc:spChg>
        <pc:spChg chg="mod">
          <ac:chgData name="Cibi K" userId="b86c7c0fe473c924" providerId="LiveId" clId="{11DC6C86-ACA3-432F-AD7B-162CF0AA3B6D}" dt="2026-10-22T08:42:24.333" v="173" actId="1076"/>
          <ac:spMkLst>
            <pc:docMk/>
            <pc:sldMk cId="0" sldId="257"/>
            <ac:spMk id="26" creationId="{00000000-0000-0000-0000-000000000000}"/>
          </ac:spMkLst>
        </pc:spChg>
        <pc:spChg chg="mod">
          <ac:chgData name="Cibi K" userId="b86c7c0fe473c924" providerId="LiveId" clId="{11DC6C86-ACA3-432F-AD7B-162CF0AA3B6D}" dt="2026-10-22T08:42:43.394" v="177" actId="1076"/>
          <ac:spMkLst>
            <pc:docMk/>
            <pc:sldMk cId="0" sldId="257"/>
            <ac:spMk id="31" creationId="{00000000-0000-0000-0000-000000000000}"/>
          </ac:spMkLst>
        </pc:spChg>
        <pc:spChg chg="mod">
          <ac:chgData name="Cibi K" userId="b86c7c0fe473c924" providerId="LiveId" clId="{11DC6C86-ACA3-432F-AD7B-162CF0AA3B6D}" dt="2026-10-22T08:42:39.666" v="176" actId="1076"/>
          <ac:spMkLst>
            <pc:docMk/>
            <pc:sldMk cId="0" sldId="257"/>
            <ac:spMk id="32" creationId="{00000000-0000-0000-0000-000000000000}"/>
          </ac:spMkLst>
        </pc:spChg>
      </pc:sldChg>
      <pc:sldChg chg="addSp delSp modSp mod">
        <pc:chgData name="Cibi K" userId="b86c7c0fe473c924" providerId="LiveId" clId="{11DC6C86-ACA3-432F-AD7B-162CF0AA3B6D}" dt="2026-10-22T08:41:27.239" v="164" actId="1076"/>
        <pc:sldMkLst>
          <pc:docMk/>
          <pc:sldMk cId="0" sldId="258"/>
        </pc:sldMkLst>
        <pc:spChg chg="add del">
          <ac:chgData name="Cibi K" userId="b86c7c0fe473c924" providerId="LiveId" clId="{11DC6C86-ACA3-432F-AD7B-162CF0AA3B6D}" dt="2026-10-22T08:39:41.256" v="150" actId="21"/>
          <ac:spMkLst>
            <pc:docMk/>
            <pc:sldMk cId="0" sldId="258"/>
            <ac:spMk id="180" creationId="{61A22A27-AC4D-43EE-B345-F38E5B6C79FD}"/>
          </ac:spMkLst>
        </pc:spChg>
        <pc:spChg chg="add del mod">
          <ac:chgData name="Cibi K" userId="b86c7c0fe473c924" providerId="LiveId" clId="{11DC6C86-ACA3-432F-AD7B-162CF0AA3B6D}" dt="2026-10-22T08:39:41.680" v="151" actId="21"/>
          <ac:spMkLst>
            <pc:docMk/>
            <pc:sldMk cId="0" sldId="258"/>
            <ac:spMk id="181" creationId="{CB47FCE2-5EDA-187F-EEE6-484D27DEEF7A}"/>
          </ac:spMkLst>
        </pc:spChg>
        <pc:spChg chg="mod">
          <ac:chgData name="Cibi K" userId="b86c7c0fe473c924" providerId="LiveId" clId="{11DC6C86-ACA3-432F-AD7B-162CF0AA3B6D}" dt="2026-10-22T08:41:19.994" v="163" actId="207"/>
          <ac:spMkLst>
            <pc:docMk/>
            <pc:sldMk cId="0" sldId="258"/>
            <ac:spMk id="212" creationId="{53B87579-BC62-E2A1-8A64-99B503B2574D}"/>
          </ac:spMkLst>
        </pc:spChg>
        <pc:spChg chg="mod">
          <ac:chgData name="Cibi K" userId="b86c7c0fe473c924" providerId="LiveId" clId="{11DC6C86-ACA3-432F-AD7B-162CF0AA3B6D}" dt="2026-10-22T08:41:27.239" v="164" actId="1076"/>
          <ac:spMkLst>
            <pc:docMk/>
            <pc:sldMk cId="0" sldId="258"/>
            <ac:spMk id="213" creationId="{CFBF88B7-D383-7293-9660-5D16C06BAE54}"/>
          </ac:spMkLst>
        </pc:spChg>
        <pc:spChg chg="mod">
          <ac:chgData name="Cibi K" userId="b86c7c0fe473c924" providerId="LiveId" clId="{11DC6C86-ACA3-432F-AD7B-162CF0AA3B6D}" dt="2026-10-22T08:40:57.297" v="159" actId="207"/>
          <ac:spMkLst>
            <pc:docMk/>
            <pc:sldMk cId="0" sldId="258"/>
            <ac:spMk id="225" creationId="{F9F2B745-C4A8-A990-684E-82D8DEDA80C8}"/>
          </ac:spMkLst>
        </pc:spChg>
        <pc:spChg chg="mod">
          <ac:chgData name="Cibi K" userId="b86c7c0fe473c924" providerId="LiveId" clId="{11DC6C86-ACA3-432F-AD7B-162CF0AA3B6D}" dt="2026-10-22T08:41:02.674" v="160" actId="1076"/>
          <ac:spMkLst>
            <pc:docMk/>
            <pc:sldMk cId="0" sldId="258"/>
            <ac:spMk id="226" creationId="{3E962F12-CC77-19E7-D6B7-DFF2E67A3AFC}"/>
          </ac:spMkLst>
        </pc:spChg>
        <pc:spChg chg="mod">
          <ac:chgData name="Cibi K" userId="b86c7c0fe473c924" providerId="LiveId" clId="{11DC6C86-ACA3-432F-AD7B-162CF0AA3B6D}" dt="2026-10-22T08:40:14.741" v="155" actId="207"/>
          <ac:spMkLst>
            <pc:docMk/>
            <pc:sldMk cId="0" sldId="258"/>
            <ac:spMk id="236" creationId="{3C3A14AB-DE19-F28F-A2A4-54E71F65B7EB}"/>
          </ac:spMkLst>
        </pc:spChg>
        <pc:spChg chg="mod">
          <ac:chgData name="Cibi K" userId="b86c7c0fe473c924" providerId="LiveId" clId="{11DC6C86-ACA3-432F-AD7B-162CF0AA3B6D}" dt="2026-10-22T08:41:08.257" v="161" actId="1076"/>
          <ac:spMkLst>
            <pc:docMk/>
            <pc:sldMk cId="0" sldId="258"/>
            <ac:spMk id="237" creationId="{F8FC3CA1-33A1-E940-C8BF-E70EE9E14615}"/>
          </ac:spMkLst>
        </pc:spChg>
        <pc:spChg chg="add del">
          <ac:chgData name="Cibi K" userId="b86c7c0fe473c924" providerId="LiveId" clId="{11DC6C86-ACA3-432F-AD7B-162CF0AA3B6D}" dt="2026-10-22T08:40:03.608" v="154" actId="22"/>
          <ac:spMkLst>
            <pc:docMk/>
            <pc:sldMk cId="0" sldId="258"/>
            <ac:spMk id="250" creationId="{FAFA4B4C-92A2-C462-8FC2-96A64A0E4232}"/>
          </ac:spMkLst>
        </pc:spChg>
      </pc:sldChg>
      <pc:sldChg chg="modSp mod">
        <pc:chgData name="Cibi K" userId="b86c7c0fe473c924" providerId="LiveId" clId="{11DC6C86-ACA3-432F-AD7B-162CF0AA3B6D}" dt="2026-10-22T08:39:18.291" v="145" actId="2711"/>
        <pc:sldMkLst>
          <pc:docMk/>
          <pc:sldMk cId="0" sldId="259"/>
        </pc:sldMkLst>
        <pc:graphicFrameChg chg="mod">
          <ac:chgData name="Cibi K" userId="b86c7c0fe473c924" providerId="LiveId" clId="{11DC6C86-ACA3-432F-AD7B-162CF0AA3B6D}" dt="2026-10-22T08:39:18.291" v="145" actId="2711"/>
          <ac:graphicFrameMkLst>
            <pc:docMk/>
            <pc:sldMk cId="0" sldId="259"/>
            <ac:graphicFrameMk id="9" creationId="{00000000-0000-0000-0000-000000000000}"/>
          </ac:graphicFrameMkLst>
        </pc:graphicFrameChg>
      </pc:sldChg>
      <pc:sldChg chg="modSp mod">
        <pc:chgData name="Cibi K" userId="b86c7c0fe473c924" providerId="LiveId" clId="{11DC6C86-ACA3-432F-AD7B-162CF0AA3B6D}" dt="2026-10-22T08:33:58.219" v="104" actId="114"/>
        <pc:sldMkLst>
          <pc:docMk/>
          <pc:sldMk cId="0" sldId="260"/>
        </pc:sldMkLst>
        <pc:spChg chg="mod">
          <ac:chgData name="Cibi K" userId="b86c7c0fe473c924" providerId="LiveId" clId="{11DC6C86-ACA3-432F-AD7B-162CF0AA3B6D}" dt="2026-10-22T08:33:58.219" v="104" actId="114"/>
          <ac:spMkLst>
            <pc:docMk/>
            <pc:sldMk cId="0" sldId="260"/>
            <ac:spMk id="19" creationId="{00000000-0000-0000-0000-000000000000}"/>
          </ac:spMkLst>
        </pc:spChg>
      </pc:sldChg>
      <pc:sldChg chg="modSp mod">
        <pc:chgData name="Cibi K" userId="b86c7c0fe473c924" providerId="LiveId" clId="{11DC6C86-ACA3-432F-AD7B-162CF0AA3B6D}" dt="2026-10-22T08:33:41.494" v="101" actId="115"/>
        <pc:sldMkLst>
          <pc:docMk/>
          <pc:sldMk cId="0" sldId="261"/>
        </pc:sldMkLst>
        <pc:spChg chg="mod">
          <ac:chgData name="Cibi K" userId="b86c7c0fe473c924" providerId="LiveId" clId="{11DC6C86-ACA3-432F-AD7B-162CF0AA3B6D}" dt="2026-10-22T08:31:31.568" v="76" actId="14100"/>
          <ac:spMkLst>
            <pc:docMk/>
            <pc:sldMk cId="0" sldId="261"/>
            <ac:spMk id="33" creationId="{00000000-0000-0000-0000-000000000000}"/>
          </ac:spMkLst>
        </pc:spChg>
        <pc:spChg chg="mod">
          <ac:chgData name="Cibi K" userId="b86c7c0fe473c924" providerId="LiveId" clId="{11DC6C86-ACA3-432F-AD7B-162CF0AA3B6D}" dt="2026-10-22T08:33:38.343" v="100" actId="115"/>
          <ac:spMkLst>
            <pc:docMk/>
            <pc:sldMk cId="0" sldId="261"/>
            <ac:spMk id="34" creationId="{00000000-0000-0000-0000-000000000000}"/>
          </ac:spMkLst>
        </pc:spChg>
        <pc:spChg chg="mod">
          <ac:chgData name="Cibi K" userId="b86c7c0fe473c924" providerId="LiveId" clId="{11DC6C86-ACA3-432F-AD7B-162CF0AA3B6D}" dt="2026-10-22T08:31:01.629" v="67" actId="14100"/>
          <ac:spMkLst>
            <pc:docMk/>
            <pc:sldMk cId="0" sldId="261"/>
            <ac:spMk id="35" creationId="{00000000-0000-0000-0000-000000000000}"/>
          </ac:spMkLst>
        </pc:spChg>
        <pc:spChg chg="mod">
          <ac:chgData name="Cibi K" userId="b86c7c0fe473c924" providerId="LiveId" clId="{11DC6C86-ACA3-432F-AD7B-162CF0AA3B6D}" dt="2026-10-22T08:32:16.301" v="82" actId="14100"/>
          <ac:spMkLst>
            <pc:docMk/>
            <pc:sldMk cId="0" sldId="261"/>
            <ac:spMk id="36" creationId="{00000000-0000-0000-0000-000000000000}"/>
          </ac:spMkLst>
        </pc:spChg>
        <pc:spChg chg="mod">
          <ac:chgData name="Cibi K" userId="b86c7c0fe473c924" providerId="LiveId" clId="{11DC6C86-ACA3-432F-AD7B-162CF0AA3B6D}" dt="2026-10-22T08:33:34.120" v="99" actId="115"/>
          <ac:spMkLst>
            <pc:docMk/>
            <pc:sldMk cId="0" sldId="261"/>
            <ac:spMk id="37" creationId="{00000000-0000-0000-0000-000000000000}"/>
          </ac:spMkLst>
        </pc:spChg>
        <pc:spChg chg="mod">
          <ac:chgData name="Cibi K" userId="b86c7c0fe473c924" providerId="LiveId" clId="{11DC6C86-ACA3-432F-AD7B-162CF0AA3B6D}" dt="2026-10-22T08:32:19.556" v="83" actId="1076"/>
          <ac:spMkLst>
            <pc:docMk/>
            <pc:sldMk cId="0" sldId="261"/>
            <ac:spMk id="38" creationId="{00000000-0000-0000-0000-000000000000}"/>
          </ac:spMkLst>
        </pc:spChg>
        <pc:spChg chg="mod">
          <ac:chgData name="Cibi K" userId="b86c7c0fe473c924" providerId="LiveId" clId="{11DC6C86-ACA3-432F-AD7B-162CF0AA3B6D}" dt="2026-10-22T08:32:29.964" v="84" actId="14100"/>
          <ac:spMkLst>
            <pc:docMk/>
            <pc:sldMk cId="0" sldId="261"/>
            <ac:spMk id="39" creationId="{00000000-0000-0000-0000-000000000000}"/>
          </ac:spMkLst>
        </pc:spChg>
        <pc:spChg chg="mod">
          <ac:chgData name="Cibi K" userId="b86c7c0fe473c924" providerId="LiveId" clId="{11DC6C86-ACA3-432F-AD7B-162CF0AA3B6D}" dt="2026-10-22T08:33:41.494" v="101" actId="115"/>
          <ac:spMkLst>
            <pc:docMk/>
            <pc:sldMk cId="0" sldId="261"/>
            <ac:spMk id="40" creationId="{00000000-0000-0000-0000-000000000000}"/>
          </ac:spMkLst>
        </pc:spChg>
        <pc:spChg chg="mod">
          <ac:chgData name="Cibi K" userId="b86c7c0fe473c924" providerId="LiveId" clId="{11DC6C86-ACA3-432F-AD7B-162CF0AA3B6D}" dt="2026-10-22T08:32:37.170" v="86" actId="14100"/>
          <ac:spMkLst>
            <pc:docMk/>
            <pc:sldMk cId="0" sldId="261"/>
            <ac:spMk id="41" creationId="{00000000-0000-0000-0000-000000000000}"/>
          </ac:spMkLst>
        </pc:spChg>
        <pc:spChg chg="mod">
          <ac:chgData name="Cibi K" userId="b86c7c0fe473c924" providerId="LiveId" clId="{11DC6C86-ACA3-432F-AD7B-162CF0AA3B6D}" dt="2026-10-22T08:29:25.122" v="40" actId="1076"/>
          <ac:spMkLst>
            <pc:docMk/>
            <pc:sldMk cId="0" sldId="261"/>
            <ac:spMk id="42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comments (%)</c:v>
                </c:pt>
              </c:strCache>
            </c:strRef>
          </c:tx>
          <c:spPr>
            <a:solidFill>
              <a:srgbClr val="6EE4D7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6EE4D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545-4531-A327-762AE6A60D12}"/>
              </c:ext>
            </c:extLst>
          </c:dPt>
          <c:dPt>
            <c:idx val="1"/>
            <c:invertIfNegative val="0"/>
            <c:bubble3D val="0"/>
            <c:spPr>
              <a:solidFill>
                <a:srgbClr val="FF924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545-4531-A327-762AE6A60D12}"/>
              </c:ext>
            </c:extLst>
          </c:dPt>
          <c:dPt>
            <c:idx val="2"/>
            <c:invertIfNegative val="0"/>
            <c:bubble3D val="0"/>
            <c:spPr>
              <a:solidFill>
                <a:srgbClr val="9365D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545-4531-A327-762AE6A60D12}"/>
              </c:ext>
            </c:extLst>
          </c:dPt>
          <c:dPt>
            <c:idx val="3"/>
            <c:invertIfNegative val="0"/>
            <c:bubble3D val="0"/>
            <c:spPr>
              <a:solidFill>
                <a:srgbClr val="FFDD6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545-4531-A327-762AE6A60D12}"/>
              </c:ext>
            </c:extLst>
          </c:dPt>
          <c:dLbls>
            <c:numFmt formatCode="0.0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262626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Positive · 13,912</c:v>
                </c:pt>
                <c:pt idx="1">
                  <c:v>Negative · 2,644</c:v>
                </c:pt>
                <c:pt idx="2">
                  <c:v>Mixed feelings · 2,334</c:v>
                </c:pt>
                <c:pt idx="3">
                  <c:v>Unknown state · 1,110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69.56</c:v>
                </c:pt>
                <c:pt idx="1">
                  <c:v>13.22</c:v>
                </c:pt>
                <c:pt idx="2">
                  <c:v>11.67</c:v>
                </c:pt>
                <c:pt idx="3">
                  <c:v>5.55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545-4531-A327-762AE6A60D1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26262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0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12073993284623208"/>
          <c:y val="0.12615740740740744"/>
          <c:w val="0.48498498498498499"/>
          <c:h val="0.74768518518518523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Comments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6EE4D7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1E16-4706-BD6E-737A588F1CA7}"/>
              </c:ext>
            </c:extLst>
          </c:dPt>
          <c:dPt>
            <c:idx val="1"/>
            <c:bubble3D val="0"/>
            <c:spPr>
              <a:solidFill>
                <a:srgbClr val="FF9247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1E16-4706-BD6E-737A588F1CA7}"/>
              </c:ext>
            </c:extLst>
          </c:dPt>
          <c:dPt>
            <c:idx val="2"/>
            <c:bubble3D val="0"/>
            <c:spPr>
              <a:solidFill>
                <a:srgbClr val="9365D5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5-1E16-4706-BD6E-737A588F1CA7}"/>
              </c:ext>
            </c:extLst>
          </c:dPt>
          <c:dPt>
            <c:idx val="3"/>
            <c:bubble3D val="0"/>
            <c:spPr>
              <a:solidFill>
                <a:srgbClr val="FFDD6E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7-1E16-4706-BD6E-737A588F1CA7}"/>
              </c:ext>
            </c:extLst>
          </c:dPt>
          <c:dLbls>
            <c:dLbl>
              <c:idx val="0"/>
              <c:layout>
                <c:manualLayout>
                  <c:x val="6.381381381381375E-2"/>
                  <c:y val="0.18518518518518517"/>
                </c:manualLayout>
              </c:layout>
              <c:numFmt formatCode="0.00%" sourceLinked="0"/>
              <c:spPr/>
              <c:txPr>
                <a:bodyPr/>
                <a:lstStyle/>
                <a:p>
                  <a:pPr>
                    <a:defRPr sz="950" b="1" i="0" u="none" strike="noStrike">
                      <a:solidFill>
                        <a:srgbClr val="262626"/>
                      </a:solidFill>
                      <a:latin typeface="+mn-lt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E16-4706-BD6E-737A588F1CA7}"/>
                </c:ext>
              </c:extLst>
            </c:dLbl>
            <c:dLbl>
              <c:idx val="1"/>
              <c:layout>
                <c:manualLayout>
                  <c:x val="-0.11261261261261261"/>
                  <c:y val="-1.1574074074074127E-2"/>
                </c:manualLayout>
              </c:layout>
              <c:numFmt formatCode="0.00%" sourceLinked="0"/>
              <c:spPr/>
              <c:txPr>
                <a:bodyPr/>
                <a:lstStyle/>
                <a:p>
                  <a:pPr>
                    <a:defRPr sz="950" b="1" i="0" u="none" strike="noStrike">
                      <a:solidFill>
                        <a:srgbClr val="262626"/>
                      </a:solidFill>
                      <a:latin typeface="+mn-lt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E16-4706-BD6E-737A588F1CA7}"/>
                </c:ext>
              </c:extLst>
            </c:dLbl>
            <c:dLbl>
              <c:idx val="2"/>
              <c:layout>
                <c:manualLayout>
                  <c:x val="-0.12762762762762764"/>
                  <c:y val="-6.3657407407407413E-2"/>
                </c:manualLayout>
              </c:layout>
              <c:numFmt formatCode="0.00%" sourceLinked="0"/>
              <c:spPr/>
              <c:txPr>
                <a:bodyPr/>
                <a:lstStyle/>
                <a:p>
                  <a:pPr>
                    <a:defRPr sz="950" b="1" i="0" u="none" strike="noStrike">
                      <a:solidFill>
                        <a:srgbClr val="262626"/>
                      </a:solidFill>
                      <a:latin typeface="+mn-lt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E16-4706-BD6E-737A588F1CA7}"/>
                </c:ext>
              </c:extLst>
            </c:dLbl>
            <c:dLbl>
              <c:idx val="3"/>
              <c:layout>
                <c:manualLayout>
                  <c:x val="-5.2552552552552555E-2"/>
                  <c:y val="-0.14467592592592593"/>
                </c:manualLayout>
              </c:layout>
              <c:numFmt formatCode="0.00%" sourceLinked="0"/>
              <c:spPr/>
              <c:txPr>
                <a:bodyPr/>
                <a:lstStyle/>
                <a:p>
                  <a:pPr>
                    <a:defRPr sz="950" b="1" i="0" u="none" strike="noStrike">
                      <a:solidFill>
                        <a:srgbClr val="262626"/>
                      </a:solidFill>
                      <a:latin typeface="+mn-lt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1E16-4706-BD6E-737A588F1CA7}"/>
                </c:ext>
              </c:extLst>
            </c:dLbl>
            <c:numFmt formatCode="0.0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Positive 13,912</c:v>
                </c:pt>
                <c:pt idx="1">
                  <c:v>Negative 2,644</c:v>
                </c:pt>
                <c:pt idx="2">
                  <c:v>Mixed feelings 2,334</c:v>
                </c:pt>
                <c:pt idx="3">
                  <c:v>Unknown state 1,110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13912</c:v>
                </c:pt>
                <c:pt idx="1">
                  <c:v>2644</c:v>
                </c:pt>
                <c:pt idx="2">
                  <c:v>2334</c:v>
                </c:pt>
                <c:pt idx="3">
                  <c:v>1110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E16-4706-BD6E-737A588F1CA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2"/>
      </c:doughnutChart>
      <c:spPr>
        <a:noFill/>
        <a:ln>
          <a:noFill/>
        </a:ln>
        <a:effectLst/>
      </c:spPr>
    </c:plotArea>
    <c:legend>
      <c:legendPos val="r"/>
      <c:legendEntry>
        <c:idx val="0"/>
        <c:txPr>
          <a:bodyPr/>
          <a:lstStyle/>
          <a:p>
            <a:pPr>
              <a:defRPr sz="1000">
                <a:latin typeface="Times New Roman" panose="02020603050405020304" pitchFamily="18" charset="0"/>
                <a:cs typeface="Times New Roman" panose="02020603050405020304" pitchFamily="18" charset="0"/>
              </a:defRPr>
            </a:pPr>
            <a:endParaRPr lang="en-US"/>
          </a:p>
        </c:txPr>
      </c:legendEntry>
      <c:layout>
        <c:manualLayout>
          <c:xMode val="edge"/>
          <c:yMode val="edge"/>
          <c:x val="0.64012851434111262"/>
          <c:y val="0.15664552347623217"/>
          <c:w val="0.29605767184507342"/>
          <c:h val="0.69828302712160983"/>
        </c:manualLayout>
      </c:layout>
      <c:overlay val="0"/>
      <c:txPr>
        <a:bodyPr/>
        <a:lstStyle/>
        <a:p>
          <a:pPr>
            <a:defRPr sz="10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CFC9DD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FC9D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211-464A-AD3C-741D3A0C894C}"/>
              </c:ext>
            </c:extLst>
          </c:dPt>
          <c:dPt>
            <c:idx val="1"/>
            <c:invertIfNegative val="0"/>
            <c:bubble3D val="0"/>
            <c:spPr>
              <a:solidFill>
                <a:srgbClr val="CFC9D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211-464A-AD3C-741D3A0C894C}"/>
              </c:ext>
            </c:extLst>
          </c:dPt>
          <c:dPt>
            <c:idx val="2"/>
            <c:invertIfNegative val="0"/>
            <c:bubble3D val="0"/>
            <c:spPr>
              <a:solidFill>
                <a:srgbClr val="CFC9D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211-464A-AD3C-741D3A0C894C}"/>
              </c:ext>
            </c:extLst>
          </c:dPt>
          <c:dPt>
            <c:idx val="3"/>
            <c:invertIfNegative val="0"/>
            <c:bubble3D val="0"/>
            <c:spPr>
              <a:solidFill>
                <a:srgbClr val="CFC9D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211-464A-AD3C-741D3A0C894C}"/>
              </c:ext>
            </c:extLst>
          </c:dPt>
          <c:dPt>
            <c:idx val="4"/>
            <c:invertIfNegative val="0"/>
            <c:bubble3D val="0"/>
            <c:spPr>
              <a:solidFill>
                <a:srgbClr val="9365D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9211-464A-AD3C-741D3A0C894C}"/>
              </c:ext>
            </c:extLst>
          </c:dPt>
          <c:dLbls>
            <c:numFmt formatCode="0.0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62626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TF-IDF + LR</c:v>
                </c:pt>
                <c:pt idx="1">
                  <c:v>BiLSTM</c:v>
                </c:pt>
                <c:pt idx="2">
                  <c:v>CNN + BiLSTM</c:v>
                </c:pt>
                <c:pt idx="3">
                  <c:v>ConG-Hybrid</c:v>
                </c:pt>
                <c:pt idx="4">
                  <c:v>ConG-MoE v2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77.599999999999994</c:v>
                </c:pt>
                <c:pt idx="1">
                  <c:v>78.86</c:v>
                </c:pt>
                <c:pt idx="2">
                  <c:v>86.12</c:v>
                </c:pt>
                <c:pt idx="3">
                  <c:v>69.3</c:v>
                </c:pt>
                <c:pt idx="4">
                  <c:v>77.48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9211-464A-AD3C-741D3A0C894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6262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10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Mixed-feelings recall (%)</c:v>
                </c:pt>
              </c:strCache>
            </c:strRef>
          </c:tx>
          <c:spPr>
            <a:solidFill>
              <a:srgbClr val="CFC9DD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FC9D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04C-4B8F-B555-2B2FC381A9AB}"/>
              </c:ext>
            </c:extLst>
          </c:dPt>
          <c:dPt>
            <c:idx val="1"/>
            <c:invertIfNegative val="0"/>
            <c:bubble3D val="0"/>
            <c:spPr>
              <a:solidFill>
                <a:srgbClr val="CFC9D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04C-4B8F-B555-2B2FC381A9AB}"/>
              </c:ext>
            </c:extLst>
          </c:dPt>
          <c:dPt>
            <c:idx val="2"/>
            <c:invertIfNegative val="0"/>
            <c:bubble3D val="0"/>
            <c:spPr>
              <a:solidFill>
                <a:srgbClr val="CFC9D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04C-4B8F-B555-2B2FC381A9AB}"/>
              </c:ext>
            </c:extLst>
          </c:dPt>
          <c:dPt>
            <c:idx val="3"/>
            <c:invertIfNegative val="0"/>
            <c:bubble3D val="0"/>
            <c:spPr>
              <a:solidFill>
                <a:srgbClr val="CFC9D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04C-4B8F-B555-2B2FC381A9AB}"/>
              </c:ext>
            </c:extLst>
          </c:dPt>
          <c:dPt>
            <c:idx val="4"/>
            <c:invertIfNegative val="0"/>
            <c:bubble3D val="0"/>
            <c:spPr>
              <a:solidFill>
                <a:srgbClr val="9365D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A04C-4B8F-B555-2B2FC381A9AB}"/>
              </c:ext>
            </c:extLst>
          </c:dPt>
          <c:dLbls>
            <c:numFmt formatCode="0.0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62626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TF-IDF + LR</c:v>
                </c:pt>
                <c:pt idx="1">
                  <c:v>BiLSTM</c:v>
                </c:pt>
                <c:pt idx="2">
                  <c:v>CNN + BiLSTM</c:v>
                </c:pt>
                <c:pt idx="3">
                  <c:v>ConG-Hybrid</c:v>
                </c:pt>
                <c:pt idx="4">
                  <c:v>ConG-MoE v2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20.55</c:v>
                </c:pt>
                <c:pt idx="1">
                  <c:v>40.24</c:v>
                </c:pt>
                <c:pt idx="2">
                  <c:v>64.55</c:v>
                </c:pt>
                <c:pt idx="3">
                  <c:v>82.19</c:v>
                </c:pt>
                <c:pt idx="4">
                  <c:v>74.489999999999995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A04C-4B8F-B555-2B2FC381A9A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6262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10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Mixed → Positive collapse (%)</c:v>
                </c:pt>
              </c:strCache>
            </c:strRef>
          </c:tx>
          <c:spPr>
            <a:solidFill>
              <a:srgbClr val="CFC9DD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52B-4663-B9F2-90900B18EEDD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552B-4663-B9F2-90900B18EEDD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552B-4663-B9F2-90900B18EEDD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552B-4663-B9F2-90900B18EEDD}"/>
              </c:ext>
            </c:extLst>
          </c:dPt>
          <c:dPt>
            <c:idx val="4"/>
            <c:invertIfNegative val="0"/>
            <c:bubble3D val="0"/>
            <c:spPr>
              <a:solidFill>
                <a:srgbClr val="9365D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552B-4663-B9F2-90900B18EEDD}"/>
              </c:ext>
            </c:extLst>
          </c:dPt>
          <c:dLbls>
            <c:numFmt formatCode="0.0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62626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TF-IDF + LR</c:v>
                </c:pt>
                <c:pt idx="1">
                  <c:v>BiLSTM</c:v>
                </c:pt>
                <c:pt idx="2">
                  <c:v>CNN + BiLSTM</c:v>
                </c:pt>
                <c:pt idx="3">
                  <c:v>ConG-Hybrid</c:v>
                </c:pt>
                <c:pt idx="4">
                  <c:v>ConG-MoE v2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75</c:v>
                </c:pt>
                <c:pt idx="1">
                  <c:v>43.84</c:v>
                </c:pt>
                <c:pt idx="2">
                  <c:v>28.42</c:v>
                </c:pt>
                <c:pt idx="3">
                  <c:v>8.73</c:v>
                </c:pt>
                <c:pt idx="4">
                  <c:v>14.04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552B-4663-B9F2-90900B18EED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6262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10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69369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ConG-MoE v2 addresses majority-class bias in Tanglish (Tamil-English code-mixed) sentiment classification, using four sentiment classes: Positive, Negative, Mixed feelings and Unknown state.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Dataset: 20,000 Tanglish YouTube comments; 69.56% Positive. Baseline TF-IDF + Logistic Regression reaches 77.60% test accuracy but misclassifies 75.00% of Mixed-feelings comments as Positive. Word OOV coverage against the referenced Tamil dictionary is 85.8%. ConG-MoE v2 combines four ideas: affect-preserving demojization, dual-stream n-grams, inverse-frequency class weights, and a three-head soft-gated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Pipeline: Tanglish comment input, text normalization, emoji demojization, dual-stream feature extraction (10,000 word + 25,000 character features), three specialized heads, confidence-based soft gate, final sentiment output. The marked area at bottom right is reserved for the architecture animation generated separately with Gemini; no video is embedded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Stratified 75:25 split of 20,000 comments into 15,000 training and 5,000 test examples. All experiments ran on a standard 8-core CPU laptop with 16 GB RAM and no GPU. Compared models: TF-IDF + LR, BiLSTM, CNN + BiLSTM, ConG-Hybrid, ConG-MoE v2.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figures are from the held-out test partition (N = 5,000) except the panel at lower right, which is a separate full-corpus evaluation (N = 20,000). Do not claim ConG-MoE v2 is best on every metric: CNN + BiLSTM has the highest accuracy and Macro-F1. ConG-MoE v2 is the cost-sensitive option that recovers Mixed-feelings comments.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 numbering follows the research paper; only references relevant to sub-word modelling, the Tanglish dataset and the hybrid baselines are shown. Verify citation details against the paper before submission.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457200" y="219456"/>
            <a:ext cx="11274552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1100" b="1" kern="0" spc="200" dirty="0">
                <a:solidFill>
                  <a:schemeClr val="accent5"/>
                </a:solidFill>
              </a:defRPr>
            </a:lvl1pPr>
          </a:lstStyle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457200" y="475488"/>
            <a:ext cx="11274552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2600" b="1" dirty="0">
                <a:solidFill>
                  <a:schemeClr val="tx1"/>
                </a:solidFill>
              </a:defRPr>
            </a:lvl1pPr>
          </a:lstStyle>
          <a:p>
            <a:pPr marL="0" indent="0" algn="ctr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19672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6B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19672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6B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chart" Target="../charts/chart1.xml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chart" Target="../charts/chart5.xml"/><Relationship Id="rId4" Type="http://schemas.openxmlformats.org/officeDocument/2006/relationships/chart" Target="../charts/char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am member 3">
            <a:extLst>
              <a:ext uri="{FF2B5EF4-FFF2-40B4-BE49-F238E27FC236}">
                <a16:creationId xmlns:a16="http://schemas.microsoft.com/office/drawing/2014/main" id="{EA9FC482-7486-B98E-C4BC-64FAA7BB5527}"/>
              </a:ext>
            </a:extLst>
          </p:cNvPr>
          <p:cNvSpPr/>
          <p:nvPr/>
        </p:nvSpPr>
        <p:spPr>
          <a:xfrm>
            <a:off x="4660433" y="3262661"/>
            <a:ext cx="2871612" cy="502920"/>
          </a:xfrm>
          <a:prstGeom prst="roundRect">
            <a:avLst>
              <a:gd name="adj" fmla="val 49091"/>
            </a:avLst>
          </a:prstGeom>
          <a:solidFill>
            <a:schemeClr val="bg1"/>
          </a:solidFill>
          <a:ln/>
          <a:effectLst>
            <a:outerShdw blurRad="1143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" name="Decor blob yellow"/>
          <p:cNvSpPr/>
          <p:nvPr/>
        </p:nvSpPr>
        <p:spPr>
          <a:xfrm>
            <a:off x="-2195137" y="458779"/>
            <a:ext cx="4938913" cy="5117482"/>
          </a:xfrm>
          <a:custGeom>
            <a:avLst/>
            <a:gdLst/>
            <a:ahLst/>
            <a:cxnLst/>
            <a:rect l="l" t="t" r="r" b="b"/>
            <a:pathLst>
              <a:path w="4938913" h="5117482">
                <a:moveTo>
                  <a:pt x="4671342" y="2328851"/>
                </a:moveTo>
                <a:quadBezTo>
                  <a:pt x="4938913" y="3215284"/>
                  <a:pt x="4161932" y="3785944"/>
                </a:quadBezTo>
                <a:lnTo>
                  <a:pt x="3125957" y="4546823"/>
                </a:lnTo>
                <a:quadBezTo>
                  <a:pt x="2348976" y="5117482"/>
                  <a:pt x="1644283" y="4485243"/>
                </a:quadBezTo>
                <a:lnTo>
                  <a:pt x="704693" y="3642256"/>
                </a:lnTo>
                <a:quadBezTo>
                  <a:pt x="0" y="3010016"/>
                  <a:pt x="267026" y="2107011"/>
                </a:quadBezTo>
                <a:lnTo>
                  <a:pt x="623060" y="903005"/>
                </a:lnTo>
                <a:quadBezTo>
                  <a:pt x="890086" y="0"/>
                  <a:pt x="1837163" y="78152"/>
                </a:quadBezTo>
                <a:lnTo>
                  <a:pt x="3099932" y="182354"/>
                </a:lnTo>
                <a:quadBezTo>
                  <a:pt x="4047009" y="260506"/>
                  <a:pt x="4314580" y="1146940"/>
                </a:quadBezTo>
                <a:lnTo>
                  <a:pt x="4671342" y="2328851"/>
                </a:lnTo>
                <a:close/>
              </a:path>
            </a:pathLst>
          </a:custGeom>
          <a:solidFill>
            <a:schemeClr val="accent1"/>
          </a:solidFill>
          <a:ln/>
        </p:spPr>
      </p:sp>
      <p:sp>
        <p:nvSpPr>
          <p:cNvPr id="3" name="Decor blob purple"/>
          <p:cNvSpPr/>
          <p:nvPr/>
        </p:nvSpPr>
        <p:spPr>
          <a:xfrm>
            <a:off x="9325253" y="3610134"/>
            <a:ext cx="3843735" cy="4301173"/>
          </a:xfrm>
          <a:custGeom>
            <a:avLst/>
            <a:gdLst/>
            <a:ahLst/>
            <a:cxnLst/>
            <a:rect l="l" t="t" r="r" b="b"/>
            <a:pathLst>
              <a:path w="3843735" h="4301173">
                <a:moveTo>
                  <a:pt x="3745898" y="2821353"/>
                </a:moveTo>
                <a:quadBezTo>
                  <a:pt x="3703968" y="3570509"/>
                  <a:pt x="2954156" y="3789708"/>
                </a:quadBezTo>
                <a:lnTo>
                  <a:pt x="1954406" y="4081973"/>
                </a:lnTo>
                <a:quadBezTo>
                  <a:pt x="1204594" y="4301173"/>
                  <a:pt x="843215" y="3624429"/>
                </a:quadBezTo>
                <a:lnTo>
                  <a:pt x="361378" y="2722105"/>
                </a:lnTo>
                <a:quadBezTo>
                  <a:pt x="0" y="2045361"/>
                  <a:pt x="453605" y="1431753"/>
                </a:quadBezTo>
                <a:lnTo>
                  <a:pt x="1058412" y="613608"/>
                </a:lnTo>
                <a:quadBezTo>
                  <a:pt x="1512017" y="0"/>
                  <a:pt x="2211532" y="321997"/>
                </a:quadBezTo>
                <a:lnTo>
                  <a:pt x="3144219" y="751326"/>
                </a:lnTo>
                <a:quadBezTo>
                  <a:pt x="3843735" y="1073323"/>
                  <a:pt x="3801805" y="1822479"/>
                </a:quadBezTo>
                <a:lnTo>
                  <a:pt x="3745898" y="2821353"/>
                </a:lnTo>
                <a:close/>
              </a:path>
            </a:pathLst>
          </a:custGeom>
          <a:solidFill>
            <a:schemeClr val="accent2"/>
          </a:solidFill>
          <a:ln/>
        </p:spPr>
      </p:sp>
      <p:sp>
        <p:nvSpPr>
          <p:cNvPr id="4" name="Decor dot"/>
          <p:cNvSpPr/>
          <p:nvPr/>
        </p:nvSpPr>
        <p:spPr>
          <a:xfrm>
            <a:off x="3611880" y="685800"/>
            <a:ext cx="182880" cy="18288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5" name="Decor dot"/>
          <p:cNvSpPr/>
          <p:nvPr/>
        </p:nvSpPr>
        <p:spPr>
          <a:xfrm>
            <a:off x="8595360" y="502920"/>
            <a:ext cx="201168" cy="20116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6" name="Decor dot"/>
          <p:cNvSpPr/>
          <p:nvPr/>
        </p:nvSpPr>
        <p:spPr>
          <a:xfrm>
            <a:off x="11475720" y="2834640"/>
            <a:ext cx="128016" cy="128016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7" name="Decor dot"/>
          <p:cNvSpPr/>
          <p:nvPr/>
        </p:nvSpPr>
        <p:spPr>
          <a:xfrm>
            <a:off x="1554480" y="5669280"/>
            <a:ext cx="182880" cy="18288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8" name="Decor dot"/>
          <p:cNvSpPr/>
          <p:nvPr/>
        </p:nvSpPr>
        <p:spPr>
          <a:xfrm>
            <a:off x="10241280" y="493776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Icon badge"/>
          <p:cNvSpPr/>
          <p:nvPr/>
        </p:nvSpPr>
        <p:spPr>
          <a:xfrm>
            <a:off x="5719698" y="342900"/>
            <a:ext cx="752299" cy="868680"/>
          </a:xfrm>
          <a:custGeom>
            <a:avLst/>
            <a:gdLst/>
            <a:ahLst/>
            <a:cxnLst/>
            <a:rect l="l" t="t" r="r" b="b"/>
            <a:pathLst>
              <a:path w="752299" h="868680">
                <a:moveTo>
                  <a:pt x="308443" y="39091"/>
                </a:moveTo>
                <a:quadBezTo>
                  <a:pt x="376149" y="0"/>
                  <a:pt x="443856" y="39091"/>
                </a:quadBezTo>
                <a:lnTo>
                  <a:pt x="684592" y="178079"/>
                </a:lnTo>
                <a:quadBezTo>
                  <a:pt x="752299" y="217170"/>
                  <a:pt x="752299" y="295351"/>
                </a:quadBezTo>
                <a:lnTo>
                  <a:pt x="752299" y="573329"/>
                </a:lnTo>
                <a:quadBezTo>
                  <a:pt x="752299" y="651510"/>
                  <a:pt x="684592" y="690601"/>
                </a:quadBezTo>
                <a:lnTo>
                  <a:pt x="443856" y="829589"/>
                </a:lnTo>
                <a:quadBezTo>
                  <a:pt x="376149" y="868680"/>
                  <a:pt x="308443" y="829589"/>
                </a:quadBezTo>
                <a:lnTo>
                  <a:pt x="67707" y="690601"/>
                </a:lnTo>
                <a:quadBezTo>
                  <a:pt x="0" y="651510"/>
                  <a:pt x="0" y="573329"/>
                </a:quadBezTo>
                <a:lnTo>
                  <a:pt x="0" y="295351"/>
                </a:lnTo>
                <a:quadBezTo>
                  <a:pt x="0" y="217170"/>
                  <a:pt x="67707" y="178079"/>
                </a:quadBezTo>
                <a:lnTo>
                  <a:pt x="308443" y="39091"/>
                </a:lnTo>
                <a:close/>
              </a:path>
            </a:pathLst>
          </a:custGeom>
          <a:solidFill>
            <a:schemeClr val="accent3">
              <a:alpha val="50000"/>
            </a:schemeClr>
          </a:solidFill>
          <a:ln/>
        </p:spPr>
      </p:sp>
      <p:pic>
        <p:nvPicPr>
          <p:cNvPr id="10" name="Image 0" descr="comment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6051" y="577444"/>
            <a:ext cx="399593" cy="399593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554478" y="1356137"/>
            <a:ext cx="953993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chemeClr val="tx1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Mitigating Majority-Class Bias in Code-Mixed Tanglish Sentiment Classification</a:t>
            </a:r>
            <a:endParaRPr lang="en-US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 txBox="1"/>
          <p:nvPr/>
        </p:nvSpPr>
        <p:spPr>
          <a:xfrm>
            <a:off x="1783079" y="2896901"/>
            <a:ext cx="9082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Comparative Study of Sub-Word, Deep Sequential, and Discourse-Guided Architectures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am member 1"/>
          <p:cNvSpPr/>
          <p:nvPr/>
        </p:nvSpPr>
        <p:spPr>
          <a:xfrm>
            <a:off x="1340968" y="3840480"/>
            <a:ext cx="2240280" cy="502920"/>
          </a:xfrm>
          <a:prstGeom prst="roundRect">
            <a:avLst>
              <a:gd name="adj" fmla="val 49091"/>
            </a:avLst>
          </a:prstGeom>
          <a:solidFill>
            <a:schemeClr val="bg1"/>
          </a:solidFill>
          <a:ln/>
          <a:effectLst>
            <a:outerShdw blurRad="1143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1228954" y="3840480"/>
            <a:ext cx="24643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Pragadheeshwar 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am member 2"/>
          <p:cNvSpPr/>
          <p:nvPr/>
        </p:nvSpPr>
        <p:spPr>
          <a:xfrm>
            <a:off x="3764128" y="3840480"/>
            <a:ext cx="2240280" cy="502920"/>
          </a:xfrm>
          <a:prstGeom prst="roundRect">
            <a:avLst>
              <a:gd name="adj" fmla="val 49091"/>
            </a:avLst>
          </a:prstGeom>
          <a:solidFill>
            <a:schemeClr val="bg1"/>
          </a:solidFill>
          <a:ln/>
          <a:effectLst>
            <a:outerShdw blurRad="1143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3764128" y="38404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Sriram G 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am member 3"/>
          <p:cNvSpPr/>
          <p:nvPr/>
        </p:nvSpPr>
        <p:spPr>
          <a:xfrm>
            <a:off x="6187288" y="3840480"/>
            <a:ext cx="2240280" cy="502920"/>
          </a:xfrm>
          <a:prstGeom prst="roundRect">
            <a:avLst>
              <a:gd name="adj" fmla="val 49091"/>
            </a:avLst>
          </a:prstGeom>
          <a:solidFill>
            <a:schemeClr val="bg1"/>
          </a:solidFill>
          <a:ln/>
          <a:effectLst>
            <a:outerShdw blurRad="1143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6187288" y="38404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Cibi K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am member 4"/>
          <p:cNvSpPr/>
          <p:nvPr/>
        </p:nvSpPr>
        <p:spPr>
          <a:xfrm>
            <a:off x="8610448" y="3840480"/>
            <a:ext cx="2240280" cy="502920"/>
          </a:xfrm>
          <a:prstGeom prst="roundRect">
            <a:avLst>
              <a:gd name="adj" fmla="val 49091"/>
            </a:avLst>
          </a:prstGeom>
          <a:solidFill>
            <a:schemeClr val="bg1"/>
          </a:solidFill>
          <a:ln/>
          <a:effectLst>
            <a:outerShdw blurRad="1143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8610448" y="38404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Sathiyarajan K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9"/>
          <p:cNvSpPr txBox="1"/>
          <p:nvPr/>
        </p:nvSpPr>
        <p:spPr>
          <a:xfrm>
            <a:off x="1554480" y="4572000"/>
            <a:ext cx="9082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Information Technology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0"/>
          <p:cNvSpPr txBox="1"/>
          <p:nvPr/>
        </p:nvSpPr>
        <p:spPr>
          <a:xfrm>
            <a:off x="1554480" y="5006340"/>
            <a:ext cx="9082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Karpagam College of Engineering, Coimbatore, India.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1"/>
          <p:cNvSpPr txBox="1"/>
          <p:nvPr/>
        </p:nvSpPr>
        <p:spPr>
          <a:xfrm>
            <a:off x="1554480" y="5230368"/>
            <a:ext cx="9082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Pill Positive"/>
          <p:cNvSpPr/>
          <p:nvPr/>
        </p:nvSpPr>
        <p:spPr>
          <a:xfrm>
            <a:off x="2964028" y="5669280"/>
            <a:ext cx="1463040" cy="310896"/>
          </a:xfrm>
          <a:prstGeom prst="roundRect">
            <a:avLst>
              <a:gd name="adj" fmla="val 50000"/>
            </a:avLst>
          </a:prstGeom>
          <a:solidFill>
            <a:schemeClr val="accent3">
              <a:alpha val="65000"/>
            </a:schemeClr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2964028" y="564184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Positive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Pill Negative"/>
          <p:cNvSpPr/>
          <p:nvPr/>
        </p:nvSpPr>
        <p:spPr>
          <a:xfrm>
            <a:off x="4564228" y="5669280"/>
            <a:ext cx="1463040" cy="310896"/>
          </a:xfrm>
          <a:prstGeom prst="roundRect">
            <a:avLst>
              <a:gd name="adj" fmla="val 50000"/>
            </a:avLst>
          </a:prstGeom>
          <a:solidFill>
            <a:schemeClr val="accent4">
              <a:alpha val="65000"/>
            </a:schemeClr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4564228" y="566928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Negative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Pill Mixed feelings"/>
          <p:cNvSpPr/>
          <p:nvPr/>
        </p:nvSpPr>
        <p:spPr>
          <a:xfrm>
            <a:off x="6164428" y="5669280"/>
            <a:ext cx="1463040" cy="310896"/>
          </a:xfrm>
          <a:prstGeom prst="roundRect">
            <a:avLst>
              <a:gd name="adj" fmla="val 50000"/>
            </a:avLst>
          </a:prstGeom>
          <a:solidFill>
            <a:schemeClr val="accent2">
              <a:alpha val="65000"/>
            </a:schemeClr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6164428" y="566928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Mixed Feelings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Pill Unknown state"/>
          <p:cNvSpPr/>
          <p:nvPr/>
        </p:nvSpPr>
        <p:spPr>
          <a:xfrm>
            <a:off x="7764628" y="5669280"/>
            <a:ext cx="1463040" cy="310896"/>
          </a:xfrm>
          <a:prstGeom prst="roundRect">
            <a:avLst>
              <a:gd name="adj" fmla="val 50000"/>
            </a:avLst>
          </a:prstGeom>
          <a:solidFill>
            <a:schemeClr val="accent1">
              <a:alpha val="65000"/>
            </a:schemeClr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7764628" y="566928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Unknown State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0"/>
          <p:cNvSpPr txBox="1"/>
          <p:nvPr/>
        </p:nvSpPr>
        <p:spPr>
          <a:xfrm>
            <a:off x="1493147" y="6143525"/>
            <a:ext cx="90827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CCB184A-8FB4-ABD3-213E-FA3660C80F0E}"/>
              </a:ext>
            </a:extLst>
          </p:cNvPr>
          <p:cNvSpPr txBox="1"/>
          <p:nvPr/>
        </p:nvSpPr>
        <p:spPr>
          <a:xfrm>
            <a:off x="4668527" y="3296538"/>
            <a:ext cx="2805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Mentor: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Kannimuthu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457200" y="219456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&amp; MOTIVATION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457200" y="475488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Statement, Motivation &amp; Proposed Solution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ecor dot"/>
          <p:cNvSpPr/>
          <p:nvPr/>
        </p:nvSpPr>
        <p:spPr>
          <a:xfrm>
            <a:off x="411480" y="566928"/>
            <a:ext cx="128016" cy="12801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5" name="Decor dot"/>
          <p:cNvSpPr/>
          <p:nvPr/>
        </p:nvSpPr>
        <p:spPr>
          <a:xfrm>
            <a:off x="11475720" y="347472"/>
            <a:ext cx="109728" cy="10972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6" name="Class distribution card"/>
          <p:cNvSpPr/>
          <p:nvPr/>
        </p:nvSpPr>
        <p:spPr>
          <a:xfrm>
            <a:off x="411480" y="1234440"/>
            <a:ext cx="4114800" cy="3017520"/>
          </a:xfrm>
          <a:prstGeom prst="roundRect">
            <a:avLst>
              <a:gd name="adj" fmla="val 4242"/>
            </a:avLst>
          </a:prstGeom>
          <a:solidFill>
            <a:schemeClr val="bg1"/>
          </a:solidFill>
          <a:ln/>
          <a:effectLst>
            <a:outerShdw blurRad="1143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594360" y="13441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distribution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594360" y="159105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20,000 Tanglish YouTube comments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Chart 0" descr="Bar chart of class distribution: Positive 69.56%, Negative 13.22%, Mixed feelings 11.67%, Unknown state 5.55%"/>
          <p:cNvGraphicFramePr/>
          <p:nvPr>
            <p:extLst>
              <p:ext uri="{D42A27DB-BD31-4B8C-83A1-F6EECF244321}">
                <p14:modId xmlns:p14="http://schemas.microsoft.com/office/powerpoint/2010/main" val="3212326541"/>
              </p:ext>
            </p:extLst>
          </p:nvPr>
        </p:nvGraphicFramePr>
        <p:xfrm>
          <a:off x="502920" y="1828800"/>
          <a:ext cx="393192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Problem step 1"/>
          <p:cNvSpPr/>
          <p:nvPr/>
        </p:nvSpPr>
        <p:spPr>
          <a:xfrm>
            <a:off x="4693544" y="1227323"/>
            <a:ext cx="1508760" cy="1508760"/>
          </a:xfrm>
          <a:prstGeom prst="roundRect">
            <a:avLst>
              <a:gd name="adj" fmla="val 8485"/>
            </a:avLst>
          </a:prstGeom>
          <a:solidFill>
            <a:schemeClr val="bg1"/>
          </a:solidFill>
          <a:ln/>
          <a:effectLst>
            <a:outerShdw blurRad="1143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tep badge 1"/>
          <p:cNvSpPr/>
          <p:nvPr/>
        </p:nvSpPr>
        <p:spPr>
          <a:xfrm>
            <a:off x="4833020" y="1335024"/>
            <a:ext cx="300920" cy="347472"/>
          </a:xfrm>
          <a:custGeom>
            <a:avLst/>
            <a:gdLst/>
            <a:ahLst/>
            <a:cxnLst/>
            <a:rect l="l" t="t" r="r" b="b"/>
            <a:pathLst>
              <a:path w="300920" h="347472">
                <a:moveTo>
                  <a:pt x="123377" y="15636"/>
                </a:moveTo>
                <a:quadBezTo>
                  <a:pt x="150460" y="0"/>
                  <a:pt x="177543" y="15636"/>
                </a:quadBezTo>
                <a:lnTo>
                  <a:pt x="273837" y="71232"/>
                </a:lnTo>
                <a:quadBezTo>
                  <a:pt x="300920" y="86868"/>
                  <a:pt x="300920" y="118140"/>
                </a:quadBezTo>
                <a:lnTo>
                  <a:pt x="300920" y="229332"/>
                </a:lnTo>
                <a:quadBezTo>
                  <a:pt x="300920" y="260604"/>
                  <a:pt x="273837" y="276240"/>
                </a:quadBezTo>
                <a:lnTo>
                  <a:pt x="177543" y="331836"/>
                </a:lnTo>
                <a:quadBezTo>
                  <a:pt x="150460" y="347472"/>
                  <a:pt x="123377" y="331836"/>
                </a:quadBezTo>
                <a:lnTo>
                  <a:pt x="27083" y="276240"/>
                </a:lnTo>
                <a:quadBezTo>
                  <a:pt x="0" y="260604"/>
                  <a:pt x="0" y="229332"/>
                </a:quadBezTo>
                <a:lnTo>
                  <a:pt x="0" y="118140"/>
                </a:lnTo>
                <a:quadBezTo>
                  <a:pt x="0" y="86868"/>
                  <a:pt x="27083" y="71232"/>
                </a:quadBezTo>
                <a:lnTo>
                  <a:pt x="123377" y="15636"/>
                </a:lnTo>
                <a:close/>
              </a:path>
            </a:pathLst>
          </a:custGeom>
          <a:solidFill>
            <a:schemeClr val="accent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833020" y="1335024"/>
            <a:ext cx="300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 txBox="1"/>
          <p:nvPr/>
        </p:nvSpPr>
        <p:spPr>
          <a:xfrm>
            <a:off x="5170516" y="136702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Imbalanced dataset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 txBox="1"/>
          <p:nvPr/>
        </p:nvSpPr>
        <p:spPr>
          <a:xfrm>
            <a:off x="5125746" y="1874607"/>
            <a:ext cx="138090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69.56% of comments are Positive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Flow arrow"/>
          <p:cNvSpPr/>
          <p:nvPr/>
        </p:nvSpPr>
        <p:spPr>
          <a:xfrm>
            <a:off x="6245352" y="1988820"/>
            <a:ext cx="289560" cy="0"/>
          </a:xfrm>
          <a:prstGeom prst="line">
            <a:avLst/>
          </a:prstGeom>
          <a:noFill/>
          <a:ln w="22225">
            <a:solidFill>
              <a:srgbClr val="6B6B78"/>
            </a:solidFill>
            <a:prstDash val="solid"/>
            <a:tailEnd type="triangle"/>
          </a:ln>
        </p:spPr>
      </p:sp>
      <p:sp>
        <p:nvSpPr>
          <p:cNvPr id="16" name="Problem step 2"/>
          <p:cNvSpPr/>
          <p:nvPr/>
        </p:nvSpPr>
        <p:spPr>
          <a:xfrm>
            <a:off x="6562344" y="1234440"/>
            <a:ext cx="1508760" cy="1508760"/>
          </a:xfrm>
          <a:prstGeom prst="roundRect">
            <a:avLst>
              <a:gd name="adj" fmla="val 8485"/>
            </a:avLst>
          </a:prstGeom>
          <a:solidFill>
            <a:schemeClr val="bg1"/>
          </a:solidFill>
          <a:ln/>
          <a:effectLst>
            <a:outerShdw blurRad="1143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tep badge 2"/>
          <p:cNvSpPr/>
          <p:nvPr/>
        </p:nvSpPr>
        <p:spPr>
          <a:xfrm>
            <a:off x="6686204" y="1335024"/>
            <a:ext cx="300920" cy="347472"/>
          </a:xfrm>
          <a:custGeom>
            <a:avLst/>
            <a:gdLst/>
            <a:ahLst/>
            <a:cxnLst/>
            <a:rect l="l" t="t" r="r" b="b"/>
            <a:pathLst>
              <a:path w="300920" h="347472">
                <a:moveTo>
                  <a:pt x="123377" y="15636"/>
                </a:moveTo>
                <a:quadBezTo>
                  <a:pt x="150460" y="0"/>
                  <a:pt x="177543" y="15636"/>
                </a:quadBezTo>
                <a:lnTo>
                  <a:pt x="273837" y="71232"/>
                </a:lnTo>
                <a:quadBezTo>
                  <a:pt x="300920" y="86868"/>
                  <a:pt x="300920" y="118140"/>
                </a:quadBezTo>
                <a:lnTo>
                  <a:pt x="300920" y="229332"/>
                </a:lnTo>
                <a:quadBezTo>
                  <a:pt x="300920" y="260604"/>
                  <a:pt x="273837" y="276240"/>
                </a:quadBezTo>
                <a:lnTo>
                  <a:pt x="177543" y="331836"/>
                </a:lnTo>
                <a:quadBezTo>
                  <a:pt x="150460" y="347472"/>
                  <a:pt x="123377" y="331836"/>
                </a:quadBezTo>
                <a:lnTo>
                  <a:pt x="27083" y="276240"/>
                </a:lnTo>
                <a:quadBezTo>
                  <a:pt x="0" y="260604"/>
                  <a:pt x="0" y="229332"/>
                </a:quadBezTo>
                <a:lnTo>
                  <a:pt x="0" y="118140"/>
                </a:lnTo>
                <a:quadBezTo>
                  <a:pt x="0" y="86868"/>
                  <a:pt x="27083" y="71232"/>
                </a:quadBezTo>
                <a:lnTo>
                  <a:pt x="123377" y="15636"/>
                </a:lnTo>
                <a:close/>
              </a:path>
            </a:pathLst>
          </a:custGeom>
          <a:solidFill>
            <a:schemeClr val="accent4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686204" y="1335024"/>
            <a:ext cx="300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6"/>
          <p:cNvSpPr txBox="1"/>
          <p:nvPr/>
        </p:nvSpPr>
        <p:spPr>
          <a:xfrm>
            <a:off x="7105264" y="1357884"/>
            <a:ext cx="926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Majority-class bias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7"/>
          <p:cNvSpPr txBox="1"/>
          <p:nvPr/>
        </p:nvSpPr>
        <p:spPr>
          <a:xfrm>
            <a:off x="6742601" y="182880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Baseline TF-IDF + LR looks accurate: 77.60% test accuracy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Flow arrow"/>
          <p:cNvSpPr/>
          <p:nvPr/>
        </p:nvSpPr>
        <p:spPr>
          <a:xfrm>
            <a:off x="8098536" y="1988820"/>
            <a:ext cx="289560" cy="0"/>
          </a:xfrm>
          <a:prstGeom prst="line">
            <a:avLst/>
          </a:prstGeom>
          <a:noFill/>
          <a:ln w="22225">
            <a:solidFill>
              <a:srgbClr val="6B6B78"/>
            </a:solidFill>
            <a:prstDash val="solid"/>
            <a:tailEnd type="triangle"/>
          </a:ln>
        </p:spPr>
      </p:sp>
      <p:sp>
        <p:nvSpPr>
          <p:cNvPr id="22" name="Problem step 3"/>
          <p:cNvSpPr/>
          <p:nvPr/>
        </p:nvSpPr>
        <p:spPr>
          <a:xfrm>
            <a:off x="8415527" y="1234440"/>
            <a:ext cx="1617237" cy="1508760"/>
          </a:xfrm>
          <a:prstGeom prst="roundRect">
            <a:avLst>
              <a:gd name="adj" fmla="val 8485"/>
            </a:avLst>
          </a:prstGeom>
          <a:solidFill>
            <a:schemeClr val="bg1"/>
          </a:solidFill>
          <a:ln/>
          <a:effectLst>
            <a:outerShdw blurRad="1143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tep badge 3"/>
          <p:cNvSpPr/>
          <p:nvPr/>
        </p:nvSpPr>
        <p:spPr>
          <a:xfrm>
            <a:off x="8539388" y="1335024"/>
            <a:ext cx="300920" cy="347472"/>
          </a:xfrm>
          <a:custGeom>
            <a:avLst/>
            <a:gdLst/>
            <a:ahLst/>
            <a:cxnLst/>
            <a:rect l="l" t="t" r="r" b="b"/>
            <a:pathLst>
              <a:path w="300920" h="347472">
                <a:moveTo>
                  <a:pt x="123377" y="15636"/>
                </a:moveTo>
                <a:quadBezTo>
                  <a:pt x="150460" y="0"/>
                  <a:pt x="177543" y="15636"/>
                </a:quadBezTo>
                <a:lnTo>
                  <a:pt x="273837" y="71232"/>
                </a:lnTo>
                <a:quadBezTo>
                  <a:pt x="300920" y="86868"/>
                  <a:pt x="300920" y="118140"/>
                </a:quadBezTo>
                <a:lnTo>
                  <a:pt x="300920" y="229332"/>
                </a:lnTo>
                <a:quadBezTo>
                  <a:pt x="300920" y="260604"/>
                  <a:pt x="273837" y="276240"/>
                </a:quadBezTo>
                <a:lnTo>
                  <a:pt x="177543" y="331836"/>
                </a:lnTo>
                <a:quadBezTo>
                  <a:pt x="150460" y="347472"/>
                  <a:pt x="123377" y="331836"/>
                </a:quadBezTo>
                <a:lnTo>
                  <a:pt x="27083" y="276240"/>
                </a:lnTo>
                <a:quadBezTo>
                  <a:pt x="0" y="260604"/>
                  <a:pt x="0" y="229332"/>
                </a:quadBezTo>
                <a:lnTo>
                  <a:pt x="0" y="118140"/>
                </a:lnTo>
                <a:quadBezTo>
                  <a:pt x="0" y="86868"/>
                  <a:pt x="27083" y="71232"/>
                </a:quadBezTo>
                <a:lnTo>
                  <a:pt x="123377" y="15636"/>
                </a:lnTo>
                <a:close/>
              </a:path>
            </a:pathLst>
          </a:custGeom>
          <a:solidFill>
            <a:schemeClr val="accent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8539388" y="1335024"/>
            <a:ext cx="300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2"/>
          <p:cNvSpPr txBox="1"/>
          <p:nvPr/>
        </p:nvSpPr>
        <p:spPr>
          <a:xfrm>
            <a:off x="8942832" y="134874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Mixed → Positive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3"/>
          <p:cNvSpPr txBox="1"/>
          <p:nvPr/>
        </p:nvSpPr>
        <p:spPr>
          <a:xfrm>
            <a:off x="8760559" y="1826715"/>
            <a:ext cx="14347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75.00% of Mixed-feelings comments misclassified as Positive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Flow arrow"/>
          <p:cNvSpPr/>
          <p:nvPr/>
        </p:nvSpPr>
        <p:spPr>
          <a:xfrm>
            <a:off x="10074215" y="1988820"/>
            <a:ext cx="289560" cy="0"/>
          </a:xfrm>
          <a:prstGeom prst="line">
            <a:avLst/>
          </a:prstGeom>
          <a:noFill/>
          <a:ln w="22225">
            <a:solidFill>
              <a:srgbClr val="6B6B78"/>
            </a:solidFill>
            <a:prstDash val="solid"/>
            <a:tailEnd type="triangle"/>
          </a:ln>
        </p:spPr>
        <p:txBody>
          <a:bodyPr/>
          <a:lstStyle/>
          <a:p>
            <a:endParaRPr lang="en-IN" dirty="0"/>
          </a:p>
        </p:txBody>
      </p:sp>
      <p:sp>
        <p:nvSpPr>
          <p:cNvPr id="28" name="Problem step 4"/>
          <p:cNvSpPr/>
          <p:nvPr/>
        </p:nvSpPr>
        <p:spPr>
          <a:xfrm>
            <a:off x="10405227" y="1199978"/>
            <a:ext cx="1680164" cy="1508760"/>
          </a:xfrm>
          <a:prstGeom prst="roundRect">
            <a:avLst>
              <a:gd name="adj" fmla="val 8485"/>
            </a:avLst>
          </a:prstGeom>
          <a:solidFill>
            <a:schemeClr val="bg1"/>
          </a:solidFill>
          <a:ln/>
          <a:effectLst>
            <a:outerShdw blurRad="1143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tep badge 4"/>
          <p:cNvSpPr/>
          <p:nvPr/>
        </p:nvSpPr>
        <p:spPr>
          <a:xfrm>
            <a:off x="10493156" y="1325880"/>
            <a:ext cx="300920" cy="347472"/>
          </a:xfrm>
          <a:custGeom>
            <a:avLst/>
            <a:gdLst/>
            <a:ahLst/>
            <a:cxnLst/>
            <a:rect l="l" t="t" r="r" b="b"/>
            <a:pathLst>
              <a:path w="300920" h="347472">
                <a:moveTo>
                  <a:pt x="123377" y="15636"/>
                </a:moveTo>
                <a:quadBezTo>
                  <a:pt x="150460" y="0"/>
                  <a:pt x="177543" y="15636"/>
                </a:quadBezTo>
                <a:lnTo>
                  <a:pt x="273837" y="71232"/>
                </a:lnTo>
                <a:quadBezTo>
                  <a:pt x="300920" y="86868"/>
                  <a:pt x="300920" y="118140"/>
                </a:quadBezTo>
                <a:lnTo>
                  <a:pt x="300920" y="229332"/>
                </a:lnTo>
                <a:quadBezTo>
                  <a:pt x="300920" y="260604"/>
                  <a:pt x="273837" y="276240"/>
                </a:quadBezTo>
                <a:lnTo>
                  <a:pt x="177543" y="331836"/>
                </a:lnTo>
                <a:quadBezTo>
                  <a:pt x="150460" y="347472"/>
                  <a:pt x="123377" y="331836"/>
                </a:quadBezTo>
                <a:lnTo>
                  <a:pt x="27083" y="276240"/>
                </a:lnTo>
                <a:quadBezTo>
                  <a:pt x="0" y="260604"/>
                  <a:pt x="0" y="229332"/>
                </a:quadBezTo>
                <a:lnTo>
                  <a:pt x="0" y="118140"/>
                </a:lnTo>
                <a:quadBezTo>
                  <a:pt x="0" y="86868"/>
                  <a:pt x="27083" y="71232"/>
                </a:quadBezTo>
                <a:lnTo>
                  <a:pt x="123377" y="15636"/>
                </a:lnTo>
                <a:close/>
              </a:path>
            </a:pathLst>
          </a:custGeom>
          <a:solidFill>
            <a:schemeClr val="accent1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10484696" y="1325880"/>
            <a:ext cx="300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8"/>
          <p:cNvSpPr txBox="1"/>
          <p:nvPr/>
        </p:nvSpPr>
        <p:spPr>
          <a:xfrm>
            <a:off x="10867845" y="1353399"/>
            <a:ext cx="11706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Need for ConG-MoE v2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29"/>
          <p:cNvSpPr txBox="1"/>
          <p:nvPr/>
        </p:nvSpPr>
        <p:spPr>
          <a:xfrm>
            <a:off x="10866120" y="1874607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Cost-sensitive, discourse-aware classification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Why Tanglish is hard card"/>
          <p:cNvSpPr/>
          <p:nvPr/>
        </p:nvSpPr>
        <p:spPr>
          <a:xfrm>
            <a:off x="4730496" y="2852929"/>
            <a:ext cx="7315199" cy="1627632"/>
          </a:xfrm>
          <a:prstGeom prst="roundRect">
            <a:avLst>
              <a:gd name="adj" fmla="val 9333"/>
            </a:avLst>
          </a:prstGeom>
          <a:solidFill>
            <a:schemeClr val="bg1"/>
          </a:solidFill>
          <a:ln/>
          <a:effectLst>
            <a:outerShdw blurRad="1143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Text 31"/>
          <p:cNvSpPr txBox="1"/>
          <p:nvPr/>
        </p:nvSpPr>
        <p:spPr>
          <a:xfrm>
            <a:off x="4893179" y="2885794"/>
            <a:ext cx="667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 Why </a:t>
            </a:r>
            <a:r>
              <a:rPr lang="en-US" sz="1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Tanglish</a:t>
            </a: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hard to classify ”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Icon badge"/>
          <p:cNvSpPr/>
          <p:nvPr/>
        </p:nvSpPr>
        <p:spPr>
          <a:xfrm>
            <a:off x="4946735" y="3282696"/>
            <a:ext cx="395947" cy="457200"/>
          </a:xfrm>
          <a:custGeom>
            <a:avLst/>
            <a:gdLst/>
            <a:ahLst/>
            <a:cxnLst/>
            <a:rect l="l" t="t" r="r" b="b"/>
            <a:pathLst>
              <a:path w="395947" h="457200">
                <a:moveTo>
                  <a:pt x="162338" y="20574"/>
                </a:moveTo>
                <a:quadBezTo>
                  <a:pt x="197973" y="0"/>
                  <a:pt x="233609" y="20574"/>
                </a:quadBezTo>
                <a:lnTo>
                  <a:pt x="360312" y="93726"/>
                </a:lnTo>
                <a:quadBezTo>
                  <a:pt x="395947" y="114300"/>
                  <a:pt x="395947" y="155448"/>
                </a:quadBezTo>
                <a:lnTo>
                  <a:pt x="395947" y="301752"/>
                </a:lnTo>
                <a:quadBezTo>
                  <a:pt x="395947" y="342900"/>
                  <a:pt x="360312" y="363474"/>
                </a:quadBezTo>
                <a:lnTo>
                  <a:pt x="233609" y="436626"/>
                </a:lnTo>
                <a:quadBezTo>
                  <a:pt x="197973" y="457200"/>
                  <a:pt x="162338" y="436626"/>
                </a:quadBezTo>
                <a:lnTo>
                  <a:pt x="35635" y="363474"/>
                </a:lnTo>
                <a:quadBezTo>
                  <a:pt x="0" y="342900"/>
                  <a:pt x="0" y="301752"/>
                </a:quadBezTo>
                <a:lnTo>
                  <a:pt x="0" y="155448"/>
                </a:lnTo>
                <a:quadBezTo>
                  <a:pt x="0" y="114300"/>
                  <a:pt x="35635" y="93726"/>
                </a:quadBezTo>
                <a:lnTo>
                  <a:pt x="162338" y="20574"/>
                </a:lnTo>
                <a:close/>
              </a:path>
            </a:pathLst>
          </a:custGeom>
          <a:solidFill>
            <a:schemeClr val="accent3">
              <a:alpha val="45000"/>
            </a:schemeClr>
          </a:solidFill>
          <a:ln/>
        </p:spPr>
      </p:sp>
      <p:pic>
        <p:nvPicPr>
          <p:cNvPr id="36" name="Image 0" descr="type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1246" y="3392424"/>
            <a:ext cx="210312" cy="210312"/>
          </a:xfrm>
          <a:prstGeom prst="rect">
            <a:avLst/>
          </a:prstGeom>
        </p:spPr>
      </p:pic>
      <p:sp>
        <p:nvSpPr>
          <p:cNvPr id="37" name="Text 33"/>
          <p:cNvSpPr txBox="1"/>
          <p:nvPr/>
        </p:nvSpPr>
        <p:spPr>
          <a:xfrm>
            <a:off x="5440680" y="324146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Phonetic spelling &amp; Tamil suffixes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4"/>
          <p:cNvSpPr txBox="1"/>
          <p:nvPr/>
        </p:nvSpPr>
        <p:spPr>
          <a:xfrm>
            <a:off x="5440679" y="3675888"/>
            <a:ext cx="211973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padam / paadam / batham; trailer-la. 85.8% word OOV vs. Tamil dictionary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Icon badge"/>
          <p:cNvSpPr/>
          <p:nvPr/>
        </p:nvSpPr>
        <p:spPr>
          <a:xfrm>
            <a:off x="7467600" y="3204886"/>
            <a:ext cx="395947" cy="457200"/>
          </a:xfrm>
          <a:custGeom>
            <a:avLst/>
            <a:gdLst/>
            <a:ahLst/>
            <a:cxnLst/>
            <a:rect l="l" t="t" r="r" b="b"/>
            <a:pathLst>
              <a:path w="395947" h="457200">
                <a:moveTo>
                  <a:pt x="162338" y="20574"/>
                </a:moveTo>
                <a:quadBezTo>
                  <a:pt x="197973" y="0"/>
                  <a:pt x="233609" y="20574"/>
                </a:quadBezTo>
                <a:lnTo>
                  <a:pt x="360312" y="93726"/>
                </a:lnTo>
                <a:quadBezTo>
                  <a:pt x="395947" y="114300"/>
                  <a:pt x="395947" y="155448"/>
                </a:quadBezTo>
                <a:lnTo>
                  <a:pt x="395947" y="301752"/>
                </a:lnTo>
                <a:quadBezTo>
                  <a:pt x="395947" y="342900"/>
                  <a:pt x="360312" y="363474"/>
                </a:quadBezTo>
                <a:lnTo>
                  <a:pt x="233609" y="436626"/>
                </a:lnTo>
                <a:quadBezTo>
                  <a:pt x="197973" y="457200"/>
                  <a:pt x="162338" y="436626"/>
                </a:quadBezTo>
                <a:lnTo>
                  <a:pt x="35635" y="363474"/>
                </a:lnTo>
                <a:quadBezTo>
                  <a:pt x="0" y="342900"/>
                  <a:pt x="0" y="301752"/>
                </a:quadBezTo>
                <a:lnTo>
                  <a:pt x="0" y="155448"/>
                </a:lnTo>
                <a:quadBezTo>
                  <a:pt x="0" y="114300"/>
                  <a:pt x="35635" y="93726"/>
                </a:quadBezTo>
                <a:lnTo>
                  <a:pt x="162338" y="20574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/>
        </p:spPr>
      </p:sp>
      <p:pic>
        <p:nvPicPr>
          <p:cNvPr id="40" name="Image 1" descr="smile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0417" y="3344289"/>
            <a:ext cx="210312" cy="210312"/>
          </a:xfrm>
          <a:prstGeom prst="rect">
            <a:avLst/>
          </a:prstGeom>
        </p:spPr>
      </p:pic>
      <p:sp>
        <p:nvSpPr>
          <p:cNvPr id="41" name="Text 36"/>
          <p:cNvSpPr txBox="1"/>
          <p:nvPr/>
        </p:nvSpPr>
        <p:spPr>
          <a:xfrm>
            <a:off x="8031480" y="3255867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Emoji–text conflicts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 37"/>
          <p:cNvSpPr txBox="1"/>
          <p:nvPr/>
        </p:nvSpPr>
        <p:spPr>
          <a:xfrm>
            <a:off x="8046972" y="3576339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Positive words paired with negative emoji signals, or the reverse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Icon badge"/>
          <p:cNvSpPr/>
          <p:nvPr/>
        </p:nvSpPr>
        <p:spPr>
          <a:xfrm>
            <a:off x="9845333" y="3291840"/>
            <a:ext cx="395947" cy="457200"/>
          </a:xfrm>
          <a:custGeom>
            <a:avLst/>
            <a:gdLst/>
            <a:ahLst/>
            <a:cxnLst/>
            <a:rect l="l" t="t" r="r" b="b"/>
            <a:pathLst>
              <a:path w="395947" h="457200">
                <a:moveTo>
                  <a:pt x="162338" y="20574"/>
                </a:moveTo>
                <a:quadBezTo>
                  <a:pt x="197973" y="0"/>
                  <a:pt x="233609" y="20574"/>
                </a:quadBezTo>
                <a:lnTo>
                  <a:pt x="360312" y="93726"/>
                </a:lnTo>
                <a:quadBezTo>
                  <a:pt x="395947" y="114300"/>
                  <a:pt x="395947" y="155448"/>
                </a:quadBezTo>
                <a:lnTo>
                  <a:pt x="395947" y="301752"/>
                </a:lnTo>
                <a:quadBezTo>
                  <a:pt x="395947" y="342900"/>
                  <a:pt x="360312" y="363474"/>
                </a:quadBezTo>
                <a:lnTo>
                  <a:pt x="233609" y="436626"/>
                </a:lnTo>
                <a:quadBezTo>
                  <a:pt x="197973" y="457200"/>
                  <a:pt x="162338" y="436626"/>
                </a:quadBezTo>
                <a:lnTo>
                  <a:pt x="35635" y="363474"/>
                </a:lnTo>
                <a:quadBezTo>
                  <a:pt x="0" y="342900"/>
                  <a:pt x="0" y="301752"/>
                </a:quadBezTo>
                <a:lnTo>
                  <a:pt x="0" y="155448"/>
                </a:lnTo>
                <a:quadBezTo>
                  <a:pt x="0" y="114300"/>
                  <a:pt x="35635" y="93726"/>
                </a:quadBezTo>
                <a:lnTo>
                  <a:pt x="162338" y="20574"/>
                </a:lnTo>
                <a:close/>
              </a:path>
            </a:pathLst>
          </a:custGeom>
          <a:solidFill>
            <a:schemeClr val="accent2">
              <a:alpha val="45000"/>
            </a:schemeClr>
          </a:solidFill>
          <a:ln/>
        </p:spPr>
      </p:sp>
      <p:pic>
        <p:nvPicPr>
          <p:cNvPr id="44" name="Image 2" descr="shuffle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42021" y="3415284"/>
            <a:ext cx="210312" cy="210312"/>
          </a:xfrm>
          <a:prstGeom prst="rect">
            <a:avLst/>
          </a:prstGeom>
        </p:spPr>
      </p:pic>
      <p:sp>
        <p:nvSpPr>
          <p:cNvPr id="45" name="Text 39"/>
          <p:cNvSpPr txBox="1"/>
          <p:nvPr/>
        </p:nvSpPr>
        <p:spPr>
          <a:xfrm>
            <a:off x="10392572" y="3255867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Mid-sentence polarity reversals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 40"/>
          <p:cNvSpPr txBox="1"/>
          <p:nvPr/>
        </p:nvSpPr>
        <p:spPr>
          <a:xfrm>
            <a:off x="10439471" y="3785701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“sema hype aana padam fulla mokka”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 41"/>
          <p:cNvSpPr txBox="1"/>
          <p:nvPr/>
        </p:nvSpPr>
        <p:spPr>
          <a:xfrm>
            <a:off x="411480" y="44348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SOLUTION: CONG-MOE V2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Solution step 1"/>
          <p:cNvSpPr/>
          <p:nvPr/>
        </p:nvSpPr>
        <p:spPr>
          <a:xfrm>
            <a:off x="411480" y="4754880"/>
            <a:ext cx="2596896" cy="1627632"/>
          </a:xfrm>
          <a:prstGeom prst="roundRect">
            <a:avLst>
              <a:gd name="adj" fmla="val 7865"/>
            </a:avLst>
          </a:prstGeom>
          <a:solidFill>
            <a:schemeClr val="bg1"/>
          </a:solidFill>
          <a:ln/>
          <a:effectLst>
            <a:outerShdw blurRad="1143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9" name="Icon badge"/>
          <p:cNvSpPr/>
          <p:nvPr/>
        </p:nvSpPr>
        <p:spPr>
          <a:xfrm>
            <a:off x="550041" y="4882896"/>
            <a:ext cx="490974" cy="566928"/>
          </a:xfrm>
          <a:custGeom>
            <a:avLst/>
            <a:gdLst/>
            <a:ahLst/>
            <a:cxnLst/>
            <a:rect l="l" t="t" r="r" b="b"/>
            <a:pathLst>
              <a:path w="490974" h="566928">
                <a:moveTo>
                  <a:pt x="201299" y="25512"/>
                </a:moveTo>
                <a:quadBezTo>
                  <a:pt x="245487" y="0"/>
                  <a:pt x="289675" y="25512"/>
                </a:quadBezTo>
                <a:lnTo>
                  <a:pt x="446786" y="116220"/>
                </a:lnTo>
                <a:quadBezTo>
                  <a:pt x="490974" y="141732"/>
                  <a:pt x="490974" y="192756"/>
                </a:quadBezTo>
                <a:lnTo>
                  <a:pt x="490974" y="374172"/>
                </a:lnTo>
                <a:quadBezTo>
                  <a:pt x="490974" y="425196"/>
                  <a:pt x="446786" y="450708"/>
                </a:quadBezTo>
                <a:lnTo>
                  <a:pt x="289675" y="541416"/>
                </a:lnTo>
                <a:quadBezTo>
                  <a:pt x="245487" y="566928"/>
                  <a:pt x="201299" y="541416"/>
                </a:quadBezTo>
                <a:lnTo>
                  <a:pt x="44188" y="450708"/>
                </a:lnTo>
                <a:quadBezTo>
                  <a:pt x="0" y="425196"/>
                  <a:pt x="0" y="374172"/>
                </a:quadBezTo>
                <a:lnTo>
                  <a:pt x="0" y="192756"/>
                </a:lnTo>
                <a:quadBezTo>
                  <a:pt x="0" y="141732"/>
                  <a:pt x="44188" y="116220"/>
                </a:quadBezTo>
                <a:lnTo>
                  <a:pt x="201299" y="25512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/>
        </p:spPr>
      </p:sp>
      <p:pic>
        <p:nvPicPr>
          <p:cNvPr id="50" name="Image 3" descr="smile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135" y="5035967"/>
            <a:ext cx="260787" cy="260787"/>
          </a:xfrm>
          <a:prstGeom prst="rect">
            <a:avLst/>
          </a:prstGeom>
        </p:spPr>
      </p:pic>
      <p:sp>
        <p:nvSpPr>
          <p:cNvPr id="51" name="Text 44"/>
          <p:cNvSpPr txBox="1"/>
          <p:nvPr/>
        </p:nvSpPr>
        <p:spPr>
          <a:xfrm>
            <a:off x="1188720" y="493776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1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 45"/>
          <p:cNvSpPr txBox="1"/>
          <p:nvPr/>
        </p:nvSpPr>
        <p:spPr>
          <a:xfrm>
            <a:off x="1188720" y="5120640"/>
            <a:ext cx="1728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Affect-preserving demojization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 46"/>
          <p:cNvSpPr txBox="1"/>
          <p:nvPr/>
        </p:nvSpPr>
        <p:spPr>
          <a:xfrm>
            <a:off x="594360" y="5687568"/>
            <a:ext cx="22311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Emojis become affect tokens (e.g. emoji_fire); “?” is retained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Flow arrow"/>
          <p:cNvSpPr/>
          <p:nvPr/>
        </p:nvSpPr>
        <p:spPr>
          <a:xfrm>
            <a:off x="3035808" y="5568696"/>
            <a:ext cx="271272" cy="0"/>
          </a:xfrm>
          <a:prstGeom prst="line">
            <a:avLst/>
          </a:prstGeom>
          <a:noFill/>
          <a:ln w="22225">
            <a:solidFill>
              <a:srgbClr val="6B6B78"/>
            </a:solidFill>
            <a:prstDash val="solid"/>
            <a:tailEnd type="triangle"/>
          </a:ln>
        </p:spPr>
      </p:sp>
      <p:sp>
        <p:nvSpPr>
          <p:cNvPr id="55" name="Solution step 2"/>
          <p:cNvSpPr/>
          <p:nvPr/>
        </p:nvSpPr>
        <p:spPr>
          <a:xfrm>
            <a:off x="3334512" y="4754880"/>
            <a:ext cx="2596896" cy="1627632"/>
          </a:xfrm>
          <a:prstGeom prst="roundRect">
            <a:avLst>
              <a:gd name="adj" fmla="val 7865"/>
            </a:avLst>
          </a:prstGeom>
          <a:solidFill>
            <a:schemeClr val="bg1"/>
          </a:solidFill>
          <a:ln/>
          <a:effectLst>
            <a:outerShdw blurRad="1143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6" name="Icon badge"/>
          <p:cNvSpPr/>
          <p:nvPr/>
        </p:nvSpPr>
        <p:spPr>
          <a:xfrm>
            <a:off x="3473073" y="4882896"/>
            <a:ext cx="490974" cy="566928"/>
          </a:xfrm>
          <a:custGeom>
            <a:avLst/>
            <a:gdLst/>
            <a:ahLst/>
            <a:cxnLst/>
            <a:rect l="l" t="t" r="r" b="b"/>
            <a:pathLst>
              <a:path w="490974" h="566928">
                <a:moveTo>
                  <a:pt x="201299" y="25512"/>
                </a:moveTo>
                <a:quadBezTo>
                  <a:pt x="245487" y="0"/>
                  <a:pt x="289675" y="25512"/>
                </a:quadBezTo>
                <a:lnTo>
                  <a:pt x="446786" y="116220"/>
                </a:lnTo>
                <a:quadBezTo>
                  <a:pt x="490974" y="141732"/>
                  <a:pt x="490974" y="192756"/>
                </a:quadBezTo>
                <a:lnTo>
                  <a:pt x="490974" y="374172"/>
                </a:lnTo>
                <a:quadBezTo>
                  <a:pt x="490974" y="425196"/>
                  <a:pt x="446786" y="450708"/>
                </a:quadBezTo>
                <a:lnTo>
                  <a:pt x="289675" y="541416"/>
                </a:lnTo>
                <a:quadBezTo>
                  <a:pt x="245487" y="566928"/>
                  <a:pt x="201299" y="541416"/>
                </a:quadBezTo>
                <a:lnTo>
                  <a:pt x="44188" y="450708"/>
                </a:lnTo>
                <a:quadBezTo>
                  <a:pt x="0" y="425196"/>
                  <a:pt x="0" y="374172"/>
                </a:quadBezTo>
                <a:lnTo>
                  <a:pt x="0" y="192756"/>
                </a:lnTo>
                <a:quadBezTo>
                  <a:pt x="0" y="141732"/>
                  <a:pt x="44188" y="116220"/>
                </a:quadBezTo>
                <a:lnTo>
                  <a:pt x="201299" y="25512"/>
                </a:lnTo>
                <a:close/>
              </a:path>
            </a:pathLst>
          </a:custGeom>
          <a:solidFill>
            <a:schemeClr val="accent3">
              <a:alpha val="45000"/>
            </a:schemeClr>
          </a:solidFill>
          <a:ln/>
        </p:spPr>
      </p:sp>
      <p:pic>
        <p:nvPicPr>
          <p:cNvPr id="57" name="Image 4" descr="layers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88167" y="5035967"/>
            <a:ext cx="260787" cy="260787"/>
          </a:xfrm>
          <a:prstGeom prst="rect">
            <a:avLst/>
          </a:prstGeom>
        </p:spPr>
      </p:pic>
      <p:sp>
        <p:nvSpPr>
          <p:cNvPr id="58" name="Text 50"/>
          <p:cNvSpPr txBox="1"/>
          <p:nvPr/>
        </p:nvSpPr>
        <p:spPr>
          <a:xfrm>
            <a:off x="4111752" y="493776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2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Text 51"/>
          <p:cNvSpPr txBox="1"/>
          <p:nvPr/>
        </p:nvSpPr>
        <p:spPr>
          <a:xfrm>
            <a:off x="4111752" y="5120640"/>
            <a:ext cx="1728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Dual-stream word + character n-grams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Text 52"/>
          <p:cNvSpPr txBox="1"/>
          <p:nvPr/>
        </p:nvSpPr>
        <p:spPr>
          <a:xfrm>
            <a:off x="3517392" y="5687568"/>
            <a:ext cx="22311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Word uni/bigrams (10k) + char_wb n = 2–4 (25k)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Flow arrow"/>
          <p:cNvSpPr/>
          <p:nvPr/>
        </p:nvSpPr>
        <p:spPr>
          <a:xfrm>
            <a:off x="5958840" y="5568696"/>
            <a:ext cx="271272" cy="0"/>
          </a:xfrm>
          <a:prstGeom prst="line">
            <a:avLst/>
          </a:prstGeom>
          <a:noFill/>
          <a:ln w="22225">
            <a:solidFill>
              <a:srgbClr val="6B6B78"/>
            </a:solidFill>
            <a:prstDash val="solid"/>
            <a:tailEnd type="triangle"/>
          </a:ln>
        </p:spPr>
      </p:sp>
      <p:sp>
        <p:nvSpPr>
          <p:cNvPr id="62" name="Solution step 3"/>
          <p:cNvSpPr/>
          <p:nvPr/>
        </p:nvSpPr>
        <p:spPr>
          <a:xfrm>
            <a:off x="6257544" y="4754880"/>
            <a:ext cx="2596896" cy="1627632"/>
          </a:xfrm>
          <a:prstGeom prst="roundRect">
            <a:avLst>
              <a:gd name="adj" fmla="val 7865"/>
            </a:avLst>
          </a:prstGeom>
          <a:solidFill>
            <a:schemeClr val="bg1"/>
          </a:solidFill>
          <a:ln/>
          <a:effectLst>
            <a:outerShdw blurRad="1143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3" name="Icon badge"/>
          <p:cNvSpPr/>
          <p:nvPr/>
        </p:nvSpPr>
        <p:spPr>
          <a:xfrm>
            <a:off x="6396105" y="4882896"/>
            <a:ext cx="490974" cy="566928"/>
          </a:xfrm>
          <a:custGeom>
            <a:avLst/>
            <a:gdLst/>
            <a:ahLst/>
            <a:cxnLst/>
            <a:rect l="l" t="t" r="r" b="b"/>
            <a:pathLst>
              <a:path w="490974" h="566928">
                <a:moveTo>
                  <a:pt x="201299" y="25512"/>
                </a:moveTo>
                <a:quadBezTo>
                  <a:pt x="245487" y="0"/>
                  <a:pt x="289675" y="25512"/>
                </a:quadBezTo>
                <a:lnTo>
                  <a:pt x="446786" y="116220"/>
                </a:lnTo>
                <a:quadBezTo>
                  <a:pt x="490974" y="141732"/>
                  <a:pt x="490974" y="192756"/>
                </a:quadBezTo>
                <a:lnTo>
                  <a:pt x="490974" y="374172"/>
                </a:lnTo>
                <a:quadBezTo>
                  <a:pt x="490974" y="425196"/>
                  <a:pt x="446786" y="450708"/>
                </a:quadBezTo>
                <a:lnTo>
                  <a:pt x="289675" y="541416"/>
                </a:lnTo>
                <a:quadBezTo>
                  <a:pt x="245487" y="566928"/>
                  <a:pt x="201299" y="541416"/>
                </a:quadBezTo>
                <a:lnTo>
                  <a:pt x="44188" y="450708"/>
                </a:lnTo>
                <a:quadBezTo>
                  <a:pt x="0" y="425196"/>
                  <a:pt x="0" y="374172"/>
                </a:quadBezTo>
                <a:lnTo>
                  <a:pt x="0" y="192756"/>
                </a:lnTo>
                <a:quadBezTo>
                  <a:pt x="0" y="141732"/>
                  <a:pt x="44188" y="116220"/>
                </a:quadBezTo>
                <a:lnTo>
                  <a:pt x="201299" y="25512"/>
                </a:lnTo>
                <a:close/>
              </a:path>
            </a:pathLst>
          </a:custGeom>
          <a:solidFill>
            <a:schemeClr val="accent1">
              <a:alpha val="45000"/>
            </a:schemeClr>
          </a:solidFill>
          <a:ln/>
        </p:spPr>
      </p:sp>
      <p:pic>
        <p:nvPicPr>
          <p:cNvPr id="64" name="Image 5" descr="scale 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1199" y="5035967"/>
            <a:ext cx="260787" cy="260787"/>
          </a:xfrm>
          <a:prstGeom prst="rect">
            <a:avLst/>
          </a:prstGeom>
        </p:spPr>
      </p:pic>
      <p:sp>
        <p:nvSpPr>
          <p:cNvPr id="65" name="Text 56"/>
          <p:cNvSpPr txBox="1"/>
          <p:nvPr/>
        </p:nvSpPr>
        <p:spPr>
          <a:xfrm>
            <a:off x="7034784" y="493776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3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Text 57"/>
          <p:cNvSpPr txBox="1"/>
          <p:nvPr/>
        </p:nvSpPr>
        <p:spPr>
          <a:xfrm>
            <a:off x="7034784" y="5120640"/>
            <a:ext cx="1728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Inverse-frequency class weighting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Text 58"/>
          <p:cNvSpPr txBox="1"/>
          <p:nvPr/>
        </p:nvSpPr>
        <p:spPr>
          <a:xfrm>
            <a:off x="6440424" y="5687568"/>
            <a:ext cx="22311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sz="1400" baseline="-40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N / (K·n</a:t>
            </a:r>
            <a:r>
              <a:rPr lang="en-US" sz="1400" baseline="-40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 Pos 0.36 · Neg 1.89 · Mix 2.14 · Unk 4.50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Flow arrow"/>
          <p:cNvSpPr/>
          <p:nvPr/>
        </p:nvSpPr>
        <p:spPr>
          <a:xfrm>
            <a:off x="8881872" y="5568696"/>
            <a:ext cx="271272" cy="0"/>
          </a:xfrm>
          <a:prstGeom prst="line">
            <a:avLst/>
          </a:prstGeom>
          <a:noFill/>
          <a:ln w="22225">
            <a:solidFill>
              <a:srgbClr val="6B6B78"/>
            </a:solidFill>
            <a:prstDash val="solid"/>
            <a:tailEnd type="triangle"/>
          </a:ln>
        </p:spPr>
      </p:sp>
      <p:sp>
        <p:nvSpPr>
          <p:cNvPr id="69" name="Solution step 4"/>
          <p:cNvSpPr/>
          <p:nvPr/>
        </p:nvSpPr>
        <p:spPr>
          <a:xfrm>
            <a:off x="9180576" y="4754880"/>
            <a:ext cx="2596896" cy="1627632"/>
          </a:xfrm>
          <a:prstGeom prst="roundRect">
            <a:avLst>
              <a:gd name="adj" fmla="val 7865"/>
            </a:avLst>
          </a:prstGeom>
          <a:solidFill>
            <a:schemeClr val="bg1"/>
          </a:solidFill>
          <a:ln/>
          <a:effectLst>
            <a:outerShdw blurRad="1143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0" name="Icon badge"/>
          <p:cNvSpPr/>
          <p:nvPr/>
        </p:nvSpPr>
        <p:spPr>
          <a:xfrm>
            <a:off x="9319137" y="4882896"/>
            <a:ext cx="490974" cy="566928"/>
          </a:xfrm>
          <a:custGeom>
            <a:avLst/>
            <a:gdLst/>
            <a:ahLst/>
            <a:cxnLst/>
            <a:rect l="l" t="t" r="r" b="b"/>
            <a:pathLst>
              <a:path w="490974" h="566928">
                <a:moveTo>
                  <a:pt x="201299" y="25512"/>
                </a:moveTo>
                <a:quadBezTo>
                  <a:pt x="245487" y="0"/>
                  <a:pt x="289675" y="25512"/>
                </a:quadBezTo>
                <a:lnTo>
                  <a:pt x="446786" y="116220"/>
                </a:lnTo>
                <a:quadBezTo>
                  <a:pt x="490974" y="141732"/>
                  <a:pt x="490974" y="192756"/>
                </a:quadBezTo>
                <a:lnTo>
                  <a:pt x="490974" y="374172"/>
                </a:lnTo>
                <a:quadBezTo>
                  <a:pt x="490974" y="425196"/>
                  <a:pt x="446786" y="450708"/>
                </a:quadBezTo>
                <a:lnTo>
                  <a:pt x="289675" y="541416"/>
                </a:lnTo>
                <a:quadBezTo>
                  <a:pt x="245487" y="566928"/>
                  <a:pt x="201299" y="541416"/>
                </a:quadBezTo>
                <a:lnTo>
                  <a:pt x="44188" y="450708"/>
                </a:lnTo>
                <a:quadBezTo>
                  <a:pt x="0" y="425196"/>
                  <a:pt x="0" y="374172"/>
                </a:quadBezTo>
                <a:lnTo>
                  <a:pt x="0" y="192756"/>
                </a:lnTo>
                <a:quadBezTo>
                  <a:pt x="0" y="141732"/>
                  <a:pt x="44188" y="116220"/>
                </a:quadBezTo>
                <a:lnTo>
                  <a:pt x="201299" y="25512"/>
                </a:lnTo>
                <a:close/>
              </a:path>
            </a:pathLst>
          </a:custGeom>
          <a:solidFill>
            <a:schemeClr val="accent2">
              <a:alpha val="45000"/>
            </a:schemeClr>
          </a:solidFill>
          <a:ln/>
        </p:spPr>
      </p:sp>
      <p:pic>
        <p:nvPicPr>
          <p:cNvPr id="71" name="Image 6" descr="git icon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34231" y="5035967"/>
            <a:ext cx="260787" cy="260787"/>
          </a:xfrm>
          <a:prstGeom prst="rect">
            <a:avLst/>
          </a:prstGeom>
        </p:spPr>
      </p:pic>
      <p:sp>
        <p:nvSpPr>
          <p:cNvPr id="72" name="Text 62"/>
          <p:cNvSpPr txBox="1"/>
          <p:nvPr/>
        </p:nvSpPr>
        <p:spPr>
          <a:xfrm>
            <a:off x="9957816" y="493776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4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Text 63"/>
          <p:cNvSpPr txBox="1"/>
          <p:nvPr/>
        </p:nvSpPr>
        <p:spPr>
          <a:xfrm>
            <a:off x="9957816" y="5120640"/>
            <a:ext cx="1728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Three-head soft-gated decision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Text 64"/>
          <p:cNvSpPr txBox="1"/>
          <p:nvPr/>
        </p:nvSpPr>
        <p:spPr>
          <a:xfrm>
            <a:off x="9363456" y="5687568"/>
            <a:ext cx="22311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 classifier + conjunction &amp; emoji monitors, threshold τ = 0.60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19672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6B78"/>
                </a:solidFill>
              </a:defRPr>
            </a:lvl1pPr>
          </a:lstStyle>
          <a:p>
            <a:pPr algn="r"/>
            <a:fld id="{F7021451-1387-4CA6-816F-3879F97B5CBC}" type="slidenum">
              <a:rPr lang="en-US" sz="1400" b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Text 0">
            <a:extLst>
              <a:ext uri="{FF2B5EF4-FFF2-40B4-BE49-F238E27FC236}">
                <a16:creationId xmlns:a16="http://schemas.microsoft.com/office/drawing/2014/main" id="{533CD80E-8C20-1CE7-939F-F55EC8656640}"/>
              </a:ext>
            </a:extLst>
          </p:cNvPr>
          <p:cNvSpPr>
            <a:spLocks noGrp="1"/>
          </p:cNvSpPr>
          <p:nvPr>
            <p:ph type="body" idx="100" hasCustomPrompt="1"/>
          </p:nvPr>
        </p:nvSpPr>
        <p:spPr>
          <a:xfrm>
            <a:off x="457200" y="219456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6" name="Text 0">
            <a:extLst>
              <a:ext uri="{FF2B5EF4-FFF2-40B4-BE49-F238E27FC236}">
                <a16:creationId xmlns:a16="http://schemas.microsoft.com/office/drawing/2014/main" id="{3D7A60A6-2F6D-7326-B6EE-4708B3BA4FD9}"/>
              </a:ext>
            </a:extLst>
          </p:cNvPr>
          <p:cNvSpPr>
            <a:spLocks noGrp="1"/>
          </p:cNvSpPr>
          <p:nvPr>
            <p:ph type="title" idx="101" hasCustomPrompt="1"/>
          </p:nvPr>
        </p:nvSpPr>
        <p:spPr>
          <a:xfrm>
            <a:off x="457200" y="475488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ConG-MoE v2: Tanglish Sentiment Classification Pipeline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7" name="Decor dot">
            <a:extLst>
              <a:ext uri="{FF2B5EF4-FFF2-40B4-BE49-F238E27FC236}">
                <a16:creationId xmlns:a16="http://schemas.microsoft.com/office/drawing/2014/main" id="{EF114C67-4434-DB3D-3340-A1CFBCBC7014}"/>
              </a:ext>
            </a:extLst>
          </p:cNvPr>
          <p:cNvSpPr/>
          <p:nvPr/>
        </p:nvSpPr>
        <p:spPr>
          <a:xfrm>
            <a:off x="411480" y="566928"/>
            <a:ext cx="128016" cy="12801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78" name="Decor dot">
            <a:extLst>
              <a:ext uri="{FF2B5EF4-FFF2-40B4-BE49-F238E27FC236}">
                <a16:creationId xmlns:a16="http://schemas.microsoft.com/office/drawing/2014/main" id="{CAF04796-8E37-C18D-B0C5-492E2AA471C0}"/>
              </a:ext>
            </a:extLst>
          </p:cNvPr>
          <p:cNvSpPr/>
          <p:nvPr/>
        </p:nvSpPr>
        <p:spPr>
          <a:xfrm>
            <a:off x="11475720" y="347472"/>
            <a:ext cx="109728" cy="10972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79" name="Stage 1">
            <a:extLst>
              <a:ext uri="{FF2B5EF4-FFF2-40B4-BE49-F238E27FC236}">
                <a16:creationId xmlns:a16="http://schemas.microsoft.com/office/drawing/2014/main" id="{AADC804A-274F-42CA-0430-A861C0250C23}"/>
              </a:ext>
            </a:extLst>
          </p:cNvPr>
          <p:cNvSpPr/>
          <p:nvPr/>
        </p:nvSpPr>
        <p:spPr>
          <a:xfrm>
            <a:off x="237744" y="2377440"/>
            <a:ext cx="1234440" cy="2121408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blurRad="1143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0" name="Step badge 1">
            <a:extLst>
              <a:ext uri="{FF2B5EF4-FFF2-40B4-BE49-F238E27FC236}">
                <a16:creationId xmlns:a16="http://schemas.microsoft.com/office/drawing/2014/main" id="{61A22A27-AC4D-43EE-B345-F38E5B6C79FD}"/>
              </a:ext>
            </a:extLst>
          </p:cNvPr>
          <p:cNvSpPr/>
          <p:nvPr/>
        </p:nvSpPr>
        <p:spPr>
          <a:xfrm>
            <a:off x="702711" y="2514600"/>
            <a:ext cx="395947" cy="457200"/>
          </a:xfrm>
          <a:custGeom>
            <a:avLst/>
            <a:gdLst/>
            <a:ahLst/>
            <a:cxnLst/>
            <a:rect l="l" t="t" r="r" b="b"/>
            <a:pathLst>
              <a:path w="395947" h="457200">
                <a:moveTo>
                  <a:pt x="162338" y="20574"/>
                </a:moveTo>
                <a:quadBezTo>
                  <a:pt x="197973" y="0"/>
                  <a:pt x="233609" y="20574"/>
                </a:quadBezTo>
                <a:lnTo>
                  <a:pt x="360312" y="93726"/>
                </a:lnTo>
                <a:quadBezTo>
                  <a:pt x="395947" y="114300"/>
                  <a:pt x="395947" y="155448"/>
                </a:quadBezTo>
                <a:lnTo>
                  <a:pt x="395947" y="301752"/>
                </a:lnTo>
                <a:quadBezTo>
                  <a:pt x="395947" y="342900"/>
                  <a:pt x="360312" y="363474"/>
                </a:quadBezTo>
                <a:lnTo>
                  <a:pt x="233609" y="436626"/>
                </a:lnTo>
                <a:quadBezTo>
                  <a:pt x="197973" y="457200"/>
                  <a:pt x="162338" y="436626"/>
                </a:quadBezTo>
                <a:lnTo>
                  <a:pt x="35635" y="363474"/>
                </a:lnTo>
                <a:quadBezTo>
                  <a:pt x="0" y="342900"/>
                  <a:pt x="0" y="301752"/>
                </a:quadBezTo>
                <a:lnTo>
                  <a:pt x="0" y="155448"/>
                </a:lnTo>
                <a:quadBezTo>
                  <a:pt x="0" y="114300"/>
                  <a:pt x="35635" y="93726"/>
                </a:quadBezTo>
                <a:lnTo>
                  <a:pt x="162338" y="20574"/>
                </a:lnTo>
                <a:close/>
              </a:path>
            </a:pathLst>
          </a:custGeom>
          <a:solidFill>
            <a:schemeClr val="accent3"/>
          </a:solidFill>
          <a:ln/>
        </p:spPr>
      </p:sp>
      <p:sp>
        <p:nvSpPr>
          <p:cNvPr id="181" name="Text 6">
            <a:extLst>
              <a:ext uri="{FF2B5EF4-FFF2-40B4-BE49-F238E27FC236}">
                <a16:creationId xmlns:a16="http://schemas.microsoft.com/office/drawing/2014/main" id="{CB47FCE2-5EDA-187F-EEE6-484D27DEEF7A}"/>
              </a:ext>
            </a:extLst>
          </p:cNvPr>
          <p:cNvSpPr txBox="1"/>
          <p:nvPr/>
        </p:nvSpPr>
        <p:spPr>
          <a:xfrm>
            <a:off x="702711" y="2514600"/>
            <a:ext cx="39594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2" name="Text 7">
            <a:extLst>
              <a:ext uri="{FF2B5EF4-FFF2-40B4-BE49-F238E27FC236}">
                <a16:creationId xmlns:a16="http://schemas.microsoft.com/office/drawing/2014/main" id="{CC6B45DC-FB65-62D6-CC89-B84C902AC0E5}"/>
              </a:ext>
            </a:extLst>
          </p:cNvPr>
          <p:cNvSpPr txBox="1"/>
          <p:nvPr/>
        </p:nvSpPr>
        <p:spPr>
          <a:xfrm>
            <a:off x="371451" y="3103784"/>
            <a:ext cx="996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Tanglish comment input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3" name="Text 8">
            <a:extLst>
              <a:ext uri="{FF2B5EF4-FFF2-40B4-BE49-F238E27FC236}">
                <a16:creationId xmlns:a16="http://schemas.microsoft.com/office/drawing/2014/main" id="{7F1EECCF-2CF7-25E1-3741-366B3DDAA213}"/>
              </a:ext>
            </a:extLst>
          </p:cNvPr>
          <p:cNvSpPr txBox="1"/>
          <p:nvPr/>
        </p:nvSpPr>
        <p:spPr>
          <a:xfrm>
            <a:off x="402336" y="3566160"/>
            <a:ext cx="996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Raw YouTube comment: Tamil-English text with emojis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4" name="Stage 2">
            <a:extLst>
              <a:ext uri="{FF2B5EF4-FFF2-40B4-BE49-F238E27FC236}">
                <a16:creationId xmlns:a16="http://schemas.microsoft.com/office/drawing/2014/main" id="{ED141D83-14D6-1BCA-DC94-6E543E686661}"/>
              </a:ext>
            </a:extLst>
          </p:cNvPr>
          <p:cNvSpPr/>
          <p:nvPr/>
        </p:nvSpPr>
        <p:spPr>
          <a:xfrm>
            <a:off x="1673352" y="2377439"/>
            <a:ext cx="1234440" cy="2121405"/>
          </a:xfrm>
          <a:prstGeom prst="roundRect">
            <a:avLst>
              <a:gd name="adj" fmla="val 10370"/>
            </a:avLst>
          </a:prstGeom>
          <a:solidFill>
            <a:schemeClr val="bg1"/>
          </a:solidFill>
          <a:ln/>
          <a:effectLst>
            <a:outerShdw blurRad="1143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5" name="Step badge 2">
            <a:extLst>
              <a:ext uri="{FF2B5EF4-FFF2-40B4-BE49-F238E27FC236}">
                <a16:creationId xmlns:a16="http://schemas.microsoft.com/office/drawing/2014/main" id="{2B06087A-8497-6D51-AAB2-8C574523199A}"/>
              </a:ext>
            </a:extLst>
          </p:cNvPr>
          <p:cNvSpPr/>
          <p:nvPr/>
        </p:nvSpPr>
        <p:spPr>
          <a:xfrm>
            <a:off x="2092599" y="2514600"/>
            <a:ext cx="395947" cy="457200"/>
          </a:xfrm>
          <a:custGeom>
            <a:avLst/>
            <a:gdLst/>
            <a:ahLst/>
            <a:cxnLst/>
            <a:rect l="l" t="t" r="r" b="b"/>
            <a:pathLst>
              <a:path w="395947" h="457200">
                <a:moveTo>
                  <a:pt x="162338" y="20574"/>
                </a:moveTo>
                <a:quadBezTo>
                  <a:pt x="197973" y="0"/>
                  <a:pt x="233609" y="20574"/>
                </a:quadBezTo>
                <a:lnTo>
                  <a:pt x="360312" y="93726"/>
                </a:lnTo>
                <a:quadBezTo>
                  <a:pt x="395947" y="114300"/>
                  <a:pt x="395947" y="155448"/>
                </a:quadBezTo>
                <a:lnTo>
                  <a:pt x="395947" y="301752"/>
                </a:lnTo>
                <a:quadBezTo>
                  <a:pt x="395947" y="342900"/>
                  <a:pt x="360312" y="363474"/>
                </a:quadBezTo>
                <a:lnTo>
                  <a:pt x="233609" y="436626"/>
                </a:lnTo>
                <a:quadBezTo>
                  <a:pt x="197973" y="457200"/>
                  <a:pt x="162338" y="436626"/>
                </a:quadBezTo>
                <a:lnTo>
                  <a:pt x="35635" y="363474"/>
                </a:lnTo>
                <a:quadBezTo>
                  <a:pt x="0" y="342900"/>
                  <a:pt x="0" y="301752"/>
                </a:quadBezTo>
                <a:lnTo>
                  <a:pt x="0" y="155448"/>
                </a:lnTo>
                <a:quadBezTo>
                  <a:pt x="0" y="114300"/>
                  <a:pt x="35635" y="93726"/>
                </a:quadBezTo>
                <a:lnTo>
                  <a:pt x="162338" y="20574"/>
                </a:lnTo>
                <a:close/>
              </a:path>
            </a:pathLst>
          </a:custGeom>
          <a:solidFill>
            <a:schemeClr val="accent1"/>
          </a:solidFill>
          <a:ln/>
        </p:spPr>
      </p:sp>
      <p:sp>
        <p:nvSpPr>
          <p:cNvPr id="186" name="Text 11">
            <a:extLst>
              <a:ext uri="{FF2B5EF4-FFF2-40B4-BE49-F238E27FC236}">
                <a16:creationId xmlns:a16="http://schemas.microsoft.com/office/drawing/2014/main" id="{FB76BD7F-059A-15C9-8E25-4DAC50C17E47}"/>
              </a:ext>
            </a:extLst>
          </p:cNvPr>
          <p:cNvSpPr txBox="1"/>
          <p:nvPr/>
        </p:nvSpPr>
        <p:spPr>
          <a:xfrm>
            <a:off x="2092599" y="2514600"/>
            <a:ext cx="39594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7" name="Text 12">
            <a:extLst>
              <a:ext uri="{FF2B5EF4-FFF2-40B4-BE49-F238E27FC236}">
                <a16:creationId xmlns:a16="http://schemas.microsoft.com/office/drawing/2014/main" id="{E8C49BCA-0061-EEB3-F2F2-7CF53020FEC6}"/>
              </a:ext>
            </a:extLst>
          </p:cNvPr>
          <p:cNvSpPr txBox="1"/>
          <p:nvPr/>
        </p:nvSpPr>
        <p:spPr>
          <a:xfrm>
            <a:off x="1746504" y="3108960"/>
            <a:ext cx="1088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 normalization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8" name="Text 13">
            <a:extLst>
              <a:ext uri="{FF2B5EF4-FFF2-40B4-BE49-F238E27FC236}">
                <a16:creationId xmlns:a16="http://schemas.microsoft.com/office/drawing/2014/main" id="{2B76A85A-CB7D-EFFF-FA31-211FA5CB0A3E}"/>
              </a:ext>
            </a:extLst>
          </p:cNvPr>
          <p:cNvSpPr txBox="1"/>
          <p:nvPr/>
        </p:nvSpPr>
        <p:spPr>
          <a:xfrm>
            <a:off x="1746504" y="3566160"/>
            <a:ext cx="1088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Compress 3+ repeated characters; keep “?”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9" name="Stage 3">
            <a:extLst>
              <a:ext uri="{FF2B5EF4-FFF2-40B4-BE49-F238E27FC236}">
                <a16:creationId xmlns:a16="http://schemas.microsoft.com/office/drawing/2014/main" id="{34E8CE9D-DC7C-3FB9-BADF-ED6BD5731468}"/>
              </a:ext>
            </a:extLst>
          </p:cNvPr>
          <p:cNvSpPr/>
          <p:nvPr/>
        </p:nvSpPr>
        <p:spPr>
          <a:xfrm>
            <a:off x="3108960" y="2377440"/>
            <a:ext cx="1234440" cy="2121408"/>
          </a:xfrm>
          <a:prstGeom prst="roundRect">
            <a:avLst>
              <a:gd name="adj" fmla="val 10370"/>
            </a:avLst>
          </a:prstGeom>
          <a:solidFill>
            <a:schemeClr val="bg1"/>
          </a:solidFill>
          <a:ln/>
          <a:effectLst>
            <a:outerShdw blurRad="1143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0" name="Step badge 3">
            <a:extLst>
              <a:ext uri="{FF2B5EF4-FFF2-40B4-BE49-F238E27FC236}">
                <a16:creationId xmlns:a16="http://schemas.microsoft.com/office/drawing/2014/main" id="{ADA1E310-8BB0-AAB0-A04B-D42C10958F3D}"/>
              </a:ext>
            </a:extLst>
          </p:cNvPr>
          <p:cNvSpPr/>
          <p:nvPr/>
        </p:nvSpPr>
        <p:spPr>
          <a:xfrm>
            <a:off x="3528207" y="2514600"/>
            <a:ext cx="395947" cy="457200"/>
          </a:xfrm>
          <a:custGeom>
            <a:avLst/>
            <a:gdLst/>
            <a:ahLst/>
            <a:cxnLst/>
            <a:rect l="l" t="t" r="r" b="b"/>
            <a:pathLst>
              <a:path w="395947" h="457200">
                <a:moveTo>
                  <a:pt x="162338" y="20574"/>
                </a:moveTo>
                <a:quadBezTo>
                  <a:pt x="197973" y="0"/>
                  <a:pt x="233609" y="20574"/>
                </a:quadBezTo>
                <a:lnTo>
                  <a:pt x="360312" y="93726"/>
                </a:lnTo>
                <a:quadBezTo>
                  <a:pt x="395947" y="114300"/>
                  <a:pt x="395947" y="155448"/>
                </a:quadBezTo>
                <a:lnTo>
                  <a:pt x="395947" y="301752"/>
                </a:lnTo>
                <a:quadBezTo>
                  <a:pt x="395947" y="342900"/>
                  <a:pt x="360312" y="363474"/>
                </a:quadBezTo>
                <a:lnTo>
                  <a:pt x="233609" y="436626"/>
                </a:lnTo>
                <a:quadBezTo>
                  <a:pt x="197973" y="457200"/>
                  <a:pt x="162338" y="436626"/>
                </a:quadBezTo>
                <a:lnTo>
                  <a:pt x="35635" y="363474"/>
                </a:lnTo>
                <a:quadBezTo>
                  <a:pt x="0" y="342900"/>
                  <a:pt x="0" y="301752"/>
                </a:quadBezTo>
                <a:lnTo>
                  <a:pt x="0" y="155448"/>
                </a:lnTo>
                <a:quadBezTo>
                  <a:pt x="0" y="114300"/>
                  <a:pt x="35635" y="93726"/>
                </a:quadBezTo>
                <a:lnTo>
                  <a:pt x="162338" y="20574"/>
                </a:lnTo>
                <a:close/>
              </a:path>
            </a:pathLst>
          </a:custGeom>
          <a:solidFill>
            <a:schemeClr val="accent4"/>
          </a:solidFill>
          <a:ln/>
        </p:spPr>
      </p:sp>
      <p:sp>
        <p:nvSpPr>
          <p:cNvPr id="191" name="Text 16">
            <a:extLst>
              <a:ext uri="{FF2B5EF4-FFF2-40B4-BE49-F238E27FC236}">
                <a16:creationId xmlns:a16="http://schemas.microsoft.com/office/drawing/2014/main" id="{E76E299A-8BD3-2F5C-4A67-99490C6A786A}"/>
              </a:ext>
            </a:extLst>
          </p:cNvPr>
          <p:cNvSpPr txBox="1"/>
          <p:nvPr/>
        </p:nvSpPr>
        <p:spPr>
          <a:xfrm>
            <a:off x="3528207" y="2514600"/>
            <a:ext cx="39594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2" name="Text 17">
            <a:extLst>
              <a:ext uri="{FF2B5EF4-FFF2-40B4-BE49-F238E27FC236}">
                <a16:creationId xmlns:a16="http://schemas.microsoft.com/office/drawing/2014/main" id="{64FBFC27-8A4C-F133-0914-3CCB7AF53A0C}"/>
              </a:ext>
            </a:extLst>
          </p:cNvPr>
          <p:cNvSpPr txBox="1"/>
          <p:nvPr/>
        </p:nvSpPr>
        <p:spPr>
          <a:xfrm>
            <a:off x="3182112" y="3108960"/>
            <a:ext cx="1088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Emoji demojization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3" name="Text 18">
            <a:extLst>
              <a:ext uri="{FF2B5EF4-FFF2-40B4-BE49-F238E27FC236}">
                <a16:creationId xmlns:a16="http://schemas.microsoft.com/office/drawing/2014/main" id="{7B19D3DA-A4D8-32DA-B8EB-658B52612E59}"/>
              </a:ext>
            </a:extLst>
          </p:cNvPr>
          <p:cNvSpPr txBox="1"/>
          <p:nvPr/>
        </p:nvSpPr>
        <p:spPr>
          <a:xfrm>
            <a:off x="3182112" y="3566160"/>
            <a:ext cx="1088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Emoji → affect token, e.g. emoji_fire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4" name="Flow arrow">
            <a:extLst>
              <a:ext uri="{FF2B5EF4-FFF2-40B4-BE49-F238E27FC236}">
                <a16:creationId xmlns:a16="http://schemas.microsoft.com/office/drawing/2014/main" id="{DDC842BB-FE02-DDEA-D4B6-F5324B77F055}"/>
              </a:ext>
            </a:extLst>
          </p:cNvPr>
          <p:cNvSpPr/>
          <p:nvPr/>
        </p:nvSpPr>
        <p:spPr>
          <a:xfrm>
            <a:off x="1472184" y="3337560"/>
            <a:ext cx="201168" cy="0"/>
          </a:xfrm>
          <a:prstGeom prst="line">
            <a:avLst/>
          </a:prstGeom>
          <a:noFill/>
          <a:ln w="22225">
            <a:solidFill>
              <a:srgbClr val="6B6B78"/>
            </a:solidFill>
            <a:prstDash val="solid"/>
            <a:tailEnd type="triangle"/>
          </a:ln>
        </p:spPr>
      </p:sp>
      <p:sp>
        <p:nvSpPr>
          <p:cNvPr id="195" name="Flow arrow">
            <a:extLst>
              <a:ext uri="{FF2B5EF4-FFF2-40B4-BE49-F238E27FC236}">
                <a16:creationId xmlns:a16="http://schemas.microsoft.com/office/drawing/2014/main" id="{346805E2-E411-0A3E-61FC-64CF7B121AA0}"/>
              </a:ext>
            </a:extLst>
          </p:cNvPr>
          <p:cNvSpPr/>
          <p:nvPr/>
        </p:nvSpPr>
        <p:spPr>
          <a:xfrm>
            <a:off x="2907792" y="3337560"/>
            <a:ext cx="201168" cy="0"/>
          </a:xfrm>
          <a:prstGeom prst="line">
            <a:avLst/>
          </a:prstGeom>
          <a:noFill/>
          <a:ln w="22225">
            <a:solidFill>
              <a:srgbClr val="6B6B78"/>
            </a:solidFill>
            <a:prstDash val="solid"/>
            <a:tailEnd type="triangle"/>
          </a:ln>
        </p:spPr>
      </p:sp>
      <p:sp>
        <p:nvSpPr>
          <p:cNvPr id="196" name="Flow arrow">
            <a:extLst>
              <a:ext uri="{FF2B5EF4-FFF2-40B4-BE49-F238E27FC236}">
                <a16:creationId xmlns:a16="http://schemas.microsoft.com/office/drawing/2014/main" id="{7CE248DC-7023-0749-157B-85857C67A985}"/>
              </a:ext>
            </a:extLst>
          </p:cNvPr>
          <p:cNvSpPr/>
          <p:nvPr/>
        </p:nvSpPr>
        <p:spPr>
          <a:xfrm>
            <a:off x="4343400" y="3337560"/>
            <a:ext cx="201168" cy="0"/>
          </a:xfrm>
          <a:prstGeom prst="line">
            <a:avLst/>
          </a:prstGeom>
          <a:noFill/>
          <a:ln w="22225">
            <a:solidFill>
              <a:srgbClr val="6B6B78"/>
            </a:solidFill>
            <a:prstDash val="solid"/>
            <a:tailEnd type="triangle"/>
          </a:ln>
        </p:spPr>
      </p:sp>
      <p:sp>
        <p:nvSpPr>
          <p:cNvPr id="197" name="Stage 4 Dual-stream features">
            <a:extLst>
              <a:ext uri="{FF2B5EF4-FFF2-40B4-BE49-F238E27FC236}">
                <a16:creationId xmlns:a16="http://schemas.microsoft.com/office/drawing/2014/main" id="{E361F19E-C798-0471-4A02-0C259E643C9C}"/>
              </a:ext>
            </a:extLst>
          </p:cNvPr>
          <p:cNvSpPr/>
          <p:nvPr/>
        </p:nvSpPr>
        <p:spPr>
          <a:xfrm>
            <a:off x="4544568" y="1783079"/>
            <a:ext cx="1828800" cy="3523458"/>
          </a:xfrm>
          <a:prstGeom prst="roundRect">
            <a:avLst>
              <a:gd name="adj" fmla="val 7000"/>
            </a:avLst>
          </a:prstGeom>
          <a:solidFill>
            <a:schemeClr val="bg1"/>
          </a:solidFill>
          <a:ln/>
          <a:effectLst>
            <a:outerShdw blurRad="1143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8" name="Step badge 4">
            <a:extLst>
              <a:ext uri="{FF2B5EF4-FFF2-40B4-BE49-F238E27FC236}">
                <a16:creationId xmlns:a16="http://schemas.microsoft.com/office/drawing/2014/main" id="{352504AB-7772-86EA-AC8E-A69671CA4E50}"/>
              </a:ext>
            </a:extLst>
          </p:cNvPr>
          <p:cNvSpPr/>
          <p:nvPr/>
        </p:nvSpPr>
        <p:spPr>
          <a:xfrm>
            <a:off x="4675779" y="2011680"/>
            <a:ext cx="395947" cy="457200"/>
          </a:xfrm>
          <a:custGeom>
            <a:avLst/>
            <a:gdLst/>
            <a:ahLst/>
            <a:cxnLst/>
            <a:rect l="l" t="t" r="r" b="b"/>
            <a:pathLst>
              <a:path w="395947" h="457200">
                <a:moveTo>
                  <a:pt x="162338" y="20574"/>
                </a:moveTo>
                <a:quadBezTo>
                  <a:pt x="197973" y="0"/>
                  <a:pt x="233609" y="20574"/>
                </a:quadBezTo>
                <a:lnTo>
                  <a:pt x="360312" y="93726"/>
                </a:lnTo>
                <a:quadBezTo>
                  <a:pt x="395947" y="114300"/>
                  <a:pt x="395947" y="155448"/>
                </a:quadBezTo>
                <a:lnTo>
                  <a:pt x="395947" y="301752"/>
                </a:lnTo>
                <a:quadBezTo>
                  <a:pt x="395947" y="342900"/>
                  <a:pt x="360312" y="363474"/>
                </a:quadBezTo>
                <a:lnTo>
                  <a:pt x="233609" y="436626"/>
                </a:lnTo>
                <a:quadBezTo>
                  <a:pt x="197973" y="457200"/>
                  <a:pt x="162338" y="436626"/>
                </a:quadBezTo>
                <a:lnTo>
                  <a:pt x="35635" y="363474"/>
                </a:lnTo>
                <a:quadBezTo>
                  <a:pt x="0" y="342900"/>
                  <a:pt x="0" y="301752"/>
                </a:quadBezTo>
                <a:lnTo>
                  <a:pt x="0" y="155448"/>
                </a:lnTo>
                <a:quadBezTo>
                  <a:pt x="0" y="114300"/>
                  <a:pt x="35635" y="93726"/>
                </a:quadBezTo>
                <a:lnTo>
                  <a:pt x="162338" y="20574"/>
                </a:lnTo>
                <a:close/>
              </a:path>
            </a:pathLst>
          </a:custGeom>
          <a:solidFill>
            <a:schemeClr val="accent2"/>
          </a:solidFill>
          <a:ln/>
        </p:spPr>
      </p:sp>
      <p:sp>
        <p:nvSpPr>
          <p:cNvPr id="199" name="Text 24">
            <a:extLst>
              <a:ext uri="{FF2B5EF4-FFF2-40B4-BE49-F238E27FC236}">
                <a16:creationId xmlns:a16="http://schemas.microsoft.com/office/drawing/2014/main" id="{03E3B70F-58E9-678A-EAB2-1607189CF3A0}"/>
              </a:ext>
            </a:extLst>
          </p:cNvPr>
          <p:cNvSpPr txBox="1"/>
          <p:nvPr/>
        </p:nvSpPr>
        <p:spPr>
          <a:xfrm>
            <a:off x="4675779" y="2011680"/>
            <a:ext cx="39594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0" name="Text 25">
            <a:extLst>
              <a:ext uri="{FF2B5EF4-FFF2-40B4-BE49-F238E27FC236}">
                <a16:creationId xmlns:a16="http://schemas.microsoft.com/office/drawing/2014/main" id="{7F969267-1D2E-3198-F424-13CF20FD79BF}"/>
              </a:ext>
            </a:extLst>
          </p:cNvPr>
          <p:cNvSpPr txBox="1"/>
          <p:nvPr/>
        </p:nvSpPr>
        <p:spPr>
          <a:xfrm>
            <a:off x="5184648" y="198424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Dual-stream feature extraction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1" name="Word n-grams">
            <a:extLst>
              <a:ext uri="{FF2B5EF4-FFF2-40B4-BE49-F238E27FC236}">
                <a16:creationId xmlns:a16="http://schemas.microsoft.com/office/drawing/2014/main" id="{6365B556-2388-2899-A294-4DA363A4C848}"/>
              </a:ext>
            </a:extLst>
          </p:cNvPr>
          <p:cNvSpPr/>
          <p:nvPr/>
        </p:nvSpPr>
        <p:spPr>
          <a:xfrm>
            <a:off x="4654296" y="2651760"/>
            <a:ext cx="1609344" cy="868680"/>
          </a:xfrm>
          <a:prstGeom prst="roundRect">
            <a:avLst>
              <a:gd name="adj" fmla="val 10526"/>
            </a:avLst>
          </a:prstGeom>
          <a:solidFill>
            <a:schemeClr val="accent1">
              <a:alpha val="35000"/>
            </a:schemeClr>
          </a:solidFill>
          <a:ln/>
        </p:spPr>
      </p:sp>
      <p:sp>
        <p:nvSpPr>
          <p:cNvPr id="202" name="Text 27">
            <a:extLst>
              <a:ext uri="{FF2B5EF4-FFF2-40B4-BE49-F238E27FC236}">
                <a16:creationId xmlns:a16="http://schemas.microsoft.com/office/drawing/2014/main" id="{B54E6A32-4C65-D673-543B-E7FAA95D73D8}"/>
              </a:ext>
            </a:extLst>
          </p:cNvPr>
          <p:cNvSpPr txBox="1"/>
          <p:nvPr/>
        </p:nvSpPr>
        <p:spPr>
          <a:xfrm>
            <a:off x="4745736" y="2724912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Word n-grams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3" name="Text 28">
            <a:extLst>
              <a:ext uri="{FF2B5EF4-FFF2-40B4-BE49-F238E27FC236}">
                <a16:creationId xmlns:a16="http://schemas.microsoft.com/office/drawing/2014/main" id="{C39F2375-BA6D-93D5-7A60-3B9775453E72}"/>
              </a:ext>
            </a:extLst>
          </p:cNvPr>
          <p:cNvSpPr txBox="1"/>
          <p:nvPr/>
        </p:nvSpPr>
        <p:spPr>
          <a:xfrm>
            <a:off x="4745736" y="2971800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Unigrams + bigrams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4" name="Text 29">
            <a:extLst>
              <a:ext uri="{FF2B5EF4-FFF2-40B4-BE49-F238E27FC236}">
                <a16:creationId xmlns:a16="http://schemas.microsoft.com/office/drawing/2014/main" id="{7CE990D6-082E-45AC-54D0-59A03882549D}"/>
              </a:ext>
            </a:extLst>
          </p:cNvPr>
          <p:cNvSpPr txBox="1"/>
          <p:nvPr/>
        </p:nvSpPr>
        <p:spPr>
          <a:xfrm>
            <a:off x="4745736" y="3200400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10,000 features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5" name="Character features">
            <a:extLst>
              <a:ext uri="{FF2B5EF4-FFF2-40B4-BE49-F238E27FC236}">
                <a16:creationId xmlns:a16="http://schemas.microsoft.com/office/drawing/2014/main" id="{2CF982F6-AB44-FF7E-539C-4BF1663FC926}"/>
              </a:ext>
            </a:extLst>
          </p:cNvPr>
          <p:cNvSpPr/>
          <p:nvPr/>
        </p:nvSpPr>
        <p:spPr>
          <a:xfrm>
            <a:off x="4654296" y="3630168"/>
            <a:ext cx="1609344" cy="1051560"/>
          </a:xfrm>
          <a:prstGeom prst="roundRect">
            <a:avLst>
              <a:gd name="adj" fmla="val 10526"/>
            </a:avLst>
          </a:prstGeom>
          <a:solidFill>
            <a:schemeClr val="accent3">
              <a:alpha val="35000"/>
            </a:schemeClr>
          </a:solidFill>
          <a:ln/>
        </p:spPr>
      </p:sp>
      <p:sp>
        <p:nvSpPr>
          <p:cNvPr id="206" name="Text 31">
            <a:extLst>
              <a:ext uri="{FF2B5EF4-FFF2-40B4-BE49-F238E27FC236}">
                <a16:creationId xmlns:a16="http://schemas.microsoft.com/office/drawing/2014/main" id="{B090BDA4-ED98-E65C-8065-2A23945154B9}"/>
              </a:ext>
            </a:extLst>
          </p:cNvPr>
          <p:cNvSpPr txBox="1"/>
          <p:nvPr/>
        </p:nvSpPr>
        <p:spPr>
          <a:xfrm>
            <a:off x="4745736" y="3703320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Character features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7" name="Text 32">
            <a:extLst>
              <a:ext uri="{FF2B5EF4-FFF2-40B4-BE49-F238E27FC236}">
                <a16:creationId xmlns:a16="http://schemas.microsoft.com/office/drawing/2014/main" id="{37FB71C7-0DB0-EA49-3685-3AD8733BA107}"/>
              </a:ext>
            </a:extLst>
          </p:cNvPr>
          <p:cNvSpPr txBox="1"/>
          <p:nvPr/>
        </p:nvSpPr>
        <p:spPr>
          <a:xfrm>
            <a:off x="4745736" y="395020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char_wb n-grams, n = 2–4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8" name="Text 33">
            <a:extLst>
              <a:ext uri="{FF2B5EF4-FFF2-40B4-BE49-F238E27FC236}">
                <a16:creationId xmlns:a16="http://schemas.microsoft.com/office/drawing/2014/main" id="{ED22F8E4-0AFB-061B-3378-9C5DE3E82B3C}"/>
              </a:ext>
            </a:extLst>
          </p:cNvPr>
          <p:cNvSpPr txBox="1"/>
          <p:nvPr/>
        </p:nvSpPr>
        <p:spPr>
          <a:xfrm>
            <a:off x="4745736" y="4320540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25,000 features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9" name="Text 34">
            <a:extLst>
              <a:ext uri="{FF2B5EF4-FFF2-40B4-BE49-F238E27FC236}">
                <a16:creationId xmlns:a16="http://schemas.microsoft.com/office/drawing/2014/main" id="{F17FA753-B68B-C2BD-5D8A-3EA137112BF4}"/>
              </a:ext>
            </a:extLst>
          </p:cNvPr>
          <p:cNvSpPr txBox="1"/>
          <p:nvPr/>
        </p:nvSpPr>
        <p:spPr>
          <a:xfrm>
            <a:off x="4654296" y="4754879"/>
            <a:ext cx="1609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35,000 features in total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0" name="Flow arrow">
            <a:extLst>
              <a:ext uri="{FF2B5EF4-FFF2-40B4-BE49-F238E27FC236}">
                <a16:creationId xmlns:a16="http://schemas.microsoft.com/office/drawing/2014/main" id="{C039A297-BC01-EA6D-1A43-ABB00E1DEAE7}"/>
              </a:ext>
            </a:extLst>
          </p:cNvPr>
          <p:cNvSpPr/>
          <p:nvPr/>
        </p:nvSpPr>
        <p:spPr>
          <a:xfrm>
            <a:off x="6373368" y="3337560"/>
            <a:ext cx="201168" cy="0"/>
          </a:xfrm>
          <a:prstGeom prst="line">
            <a:avLst/>
          </a:prstGeom>
          <a:noFill/>
          <a:ln w="22225">
            <a:solidFill>
              <a:srgbClr val="6B6B78"/>
            </a:solidFill>
            <a:prstDash val="solid"/>
            <a:tailEnd type="triangle"/>
          </a:ln>
        </p:spPr>
      </p:sp>
      <p:sp>
        <p:nvSpPr>
          <p:cNvPr id="211" name="Stage 5 Three specialized heads">
            <a:extLst>
              <a:ext uri="{FF2B5EF4-FFF2-40B4-BE49-F238E27FC236}">
                <a16:creationId xmlns:a16="http://schemas.microsoft.com/office/drawing/2014/main" id="{6263B861-3871-E6D5-FE87-6AEE81B6D1C0}"/>
              </a:ext>
            </a:extLst>
          </p:cNvPr>
          <p:cNvSpPr/>
          <p:nvPr/>
        </p:nvSpPr>
        <p:spPr>
          <a:xfrm>
            <a:off x="6574536" y="1783078"/>
            <a:ext cx="2286000" cy="3523459"/>
          </a:xfrm>
          <a:prstGeom prst="roundRect">
            <a:avLst>
              <a:gd name="adj" fmla="val 5600"/>
            </a:avLst>
          </a:prstGeom>
          <a:solidFill>
            <a:schemeClr val="bg1"/>
          </a:solidFill>
          <a:ln/>
          <a:effectLst>
            <a:outerShdw blurRad="1143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2" name="Step badge 5">
            <a:extLst>
              <a:ext uri="{FF2B5EF4-FFF2-40B4-BE49-F238E27FC236}">
                <a16:creationId xmlns:a16="http://schemas.microsoft.com/office/drawing/2014/main" id="{53B87579-BC62-E2A1-8A64-99B503B2574D}"/>
              </a:ext>
            </a:extLst>
          </p:cNvPr>
          <p:cNvSpPr/>
          <p:nvPr/>
        </p:nvSpPr>
        <p:spPr>
          <a:xfrm>
            <a:off x="6705747" y="1933653"/>
            <a:ext cx="395947" cy="457200"/>
          </a:xfrm>
          <a:custGeom>
            <a:avLst/>
            <a:gdLst/>
            <a:ahLst/>
            <a:cxnLst/>
            <a:rect l="l" t="t" r="r" b="b"/>
            <a:pathLst>
              <a:path w="395947" h="457200">
                <a:moveTo>
                  <a:pt x="162338" y="20574"/>
                </a:moveTo>
                <a:quadBezTo>
                  <a:pt x="197973" y="0"/>
                  <a:pt x="233609" y="20574"/>
                </a:quadBezTo>
                <a:lnTo>
                  <a:pt x="360312" y="93726"/>
                </a:lnTo>
                <a:quadBezTo>
                  <a:pt x="395947" y="114300"/>
                  <a:pt x="395947" y="155448"/>
                </a:quadBezTo>
                <a:lnTo>
                  <a:pt x="395947" y="301752"/>
                </a:lnTo>
                <a:quadBezTo>
                  <a:pt x="395947" y="342900"/>
                  <a:pt x="360312" y="363474"/>
                </a:quadBezTo>
                <a:lnTo>
                  <a:pt x="233609" y="436626"/>
                </a:lnTo>
                <a:quadBezTo>
                  <a:pt x="197973" y="457200"/>
                  <a:pt x="162338" y="436626"/>
                </a:quadBezTo>
                <a:lnTo>
                  <a:pt x="35635" y="363474"/>
                </a:lnTo>
                <a:quadBezTo>
                  <a:pt x="0" y="342900"/>
                  <a:pt x="0" y="301752"/>
                </a:quadBezTo>
                <a:lnTo>
                  <a:pt x="0" y="155448"/>
                </a:lnTo>
                <a:quadBezTo>
                  <a:pt x="0" y="114300"/>
                  <a:pt x="35635" y="93726"/>
                </a:quadBezTo>
                <a:lnTo>
                  <a:pt x="162338" y="20574"/>
                </a:lnTo>
                <a:close/>
              </a:path>
            </a:pathLst>
          </a:custGeom>
          <a:solidFill>
            <a:srgbClr val="FF9247"/>
          </a:solidFill>
          <a:ln/>
        </p:spPr>
      </p:sp>
      <p:sp>
        <p:nvSpPr>
          <p:cNvPr id="213" name="Text 38">
            <a:extLst>
              <a:ext uri="{FF2B5EF4-FFF2-40B4-BE49-F238E27FC236}">
                <a16:creationId xmlns:a16="http://schemas.microsoft.com/office/drawing/2014/main" id="{CFBF88B7-D383-7293-9660-5D16C06BAE54}"/>
              </a:ext>
            </a:extLst>
          </p:cNvPr>
          <p:cNvSpPr txBox="1"/>
          <p:nvPr/>
        </p:nvSpPr>
        <p:spPr>
          <a:xfrm>
            <a:off x="6705747" y="1937450"/>
            <a:ext cx="39594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4" name="Text 39">
            <a:extLst>
              <a:ext uri="{FF2B5EF4-FFF2-40B4-BE49-F238E27FC236}">
                <a16:creationId xmlns:a16="http://schemas.microsoft.com/office/drawing/2014/main" id="{219FD127-DA48-19AE-F4E7-061CBDF64815}"/>
              </a:ext>
            </a:extLst>
          </p:cNvPr>
          <p:cNvSpPr txBox="1"/>
          <p:nvPr/>
        </p:nvSpPr>
        <p:spPr>
          <a:xfrm>
            <a:off x="7166830" y="1889573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Three specialized heads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" name="Head 1 · Statistical base classifier">
            <a:extLst>
              <a:ext uri="{FF2B5EF4-FFF2-40B4-BE49-F238E27FC236}">
                <a16:creationId xmlns:a16="http://schemas.microsoft.com/office/drawing/2014/main" id="{0EDB9FA5-1539-AC5C-90C7-198104404AB1}"/>
              </a:ext>
            </a:extLst>
          </p:cNvPr>
          <p:cNvSpPr/>
          <p:nvPr/>
        </p:nvSpPr>
        <p:spPr>
          <a:xfrm>
            <a:off x="6684264" y="2425704"/>
            <a:ext cx="2066544" cy="836547"/>
          </a:xfrm>
          <a:prstGeom prst="roundRect">
            <a:avLst>
              <a:gd name="adj" fmla="val 13158"/>
            </a:avLst>
          </a:prstGeom>
          <a:solidFill>
            <a:schemeClr val="accent3">
              <a:alpha val="35000"/>
            </a:schemeClr>
          </a:solidFill>
          <a:ln/>
        </p:spPr>
      </p:sp>
      <p:sp>
        <p:nvSpPr>
          <p:cNvPr id="216" name="Text 41">
            <a:extLst>
              <a:ext uri="{FF2B5EF4-FFF2-40B4-BE49-F238E27FC236}">
                <a16:creationId xmlns:a16="http://schemas.microsoft.com/office/drawing/2014/main" id="{E41964C2-5F81-0D0D-BD8A-32429235F287}"/>
              </a:ext>
            </a:extLst>
          </p:cNvPr>
          <p:cNvSpPr txBox="1"/>
          <p:nvPr/>
        </p:nvSpPr>
        <p:spPr>
          <a:xfrm>
            <a:off x="6734556" y="2512876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Head 1 · Statistical base classifier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7" name="Text 42">
            <a:extLst>
              <a:ext uri="{FF2B5EF4-FFF2-40B4-BE49-F238E27FC236}">
                <a16:creationId xmlns:a16="http://schemas.microsoft.com/office/drawing/2014/main" id="{FFC055D6-74B0-2EFE-D127-A8BE7A797E46}"/>
              </a:ext>
            </a:extLst>
          </p:cNvPr>
          <p:cNvSpPr txBox="1"/>
          <p:nvPr/>
        </p:nvSpPr>
        <p:spPr>
          <a:xfrm>
            <a:off x="6757416" y="2867335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Cost-sensitive multinomial logistic regression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8" name="Head 2 · Contrastive conjunction monitor">
            <a:extLst>
              <a:ext uri="{FF2B5EF4-FFF2-40B4-BE49-F238E27FC236}">
                <a16:creationId xmlns:a16="http://schemas.microsoft.com/office/drawing/2014/main" id="{5B6AD6AA-9B87-2952-DFB6-6196FEDE823A}"/>
              </a:ext>
            </a:extLst>
          </p:cNvPr>
          <p:cNvSpPr/>
          <p:nvPr/>
        </p:nvSpPr>
        <p:spPr>
          <a:xfrm>
            <a:off x="6654766" y="3385565"/>
            <a:ext cx="2066544" cy="934975"/>
          </a:xfrm>
          <a:prstGeom prst="roundRect">
            <a:avLst>
              <a:gd name="adj" fmla="val 13158"/>
            </a:avLst>
          </a:prstGeom>
          <a:solidFill>
            <a:schemeClr val="accent2">
              <a:alpha val="35000"/>
            </a:schemeClr>
          </a:solidFill>
          <a:ln/>
        </p:spPr>
      </p:sp>
      <p:sp>
        <p:nvSpPr>
          <p:cNvPr id="219" name="Text 44">
            <a:extLst>
              <a:ext uri="{FF2B5EF4-FFF2-40B4-BE49-F238E27FC236}">
                <a16:creationId xmlns:a16="http://schemas.microsoft.com/office/drawing/2014/main" id="{09B0649A-B8F3-0AED-759A-C686FCBD4232}"/>
              </a:ext>
            </a:extLst>
          </p:cNvPr>
          <p:cNvSpPr txBox="1"/>
          <p:nvPr/>
        </p:nvSpPr>
        <p:spPr>
          <a:xfrm>
            <a:off x="6775484" y="346525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Head 2 · Contrastive conjunction monitor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0" name="Text 45">
            <a:extLst>
              <a:ext uri="{FF2B5EF4-FFF2-40B4-BE49-F238E27FC236}">
                <a16:creationId xmlns:a16="http://schemas.microsoft.com/office/drawing/2014/main" id="{3F6E902E-734C-A357-15CB-D32941055607}"/>
              </a:ext>
            </a:extLst>
          </p:cNvPr>
          <p:cNvSpPr txBox="1"/>
          <p:nvPr/>
        </p:nvSpPr>
        <p:spPr>
          <a:xfrm>
            <a:off x="6775484" y="3855835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Polarity shifts around aana, aanal, irundhalum, but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1" name="Head 3 · Emoji-conflict monitor">
            <a:extLst>
              <a:ext uri="{FF2B5EF4-FFF2-40B4-BE49-F238E27FC236}">
                <a16:creationId xmlns:a16="http://schemas.microsoft.com/office/drawing/2014/main" id="{37DEA2F0-034B-FE55-0B67-A5E078A7B7FD}"/>
              </a:ext>
            </a:extLst>
          </p:cNvPr>
          <p:cNvSpPr/>
          <p:nvPr/>
        </p:nvSpPr>
        <p:spPr>
          <a:xfrm>
            <a:off x="6684264" y="4425695"/>
            <a:ext cx="2066544" cy="694944"/>
          </a:xfrm>
          <a:prstGeom prst="roundRect">
            <a:avLst>
              <a:gd name="adj" fmla="val 13158"/>
            </a:avLst>
          </a:prstGeom>
          <a:solidFill>
            <a:schemeClr val="accent4">
              <a:alpha val="35000"/>
            </a:schemeClr>
          </a:solidFill>
          <a:ln/>
        </p:spPr>
      </p:sp>
      <p:sp>
        <p:nvSpPr>
          <p:cNvPr id="222" name="Text 47">
            <a:extLst>
              <a:ext uri="{FF2B5EF4-FFF2-40B4-BE49-F238E27FC236}">
                <a16:creationId xmlns:a16="http://schemas.microsoft.com/office/drawing/2014/main" id="{6404F2FA-8D84-F109-398C-C8B43B08D224}"/>
              </a:ext>
            </a:extLst>
          </p:cNvPr>
          <p:cNvSpPr txBox="1"/>
          <p:nvPr/>
        </p:nvSpPr>
        <p:spPr>
          <a:xfrm>
            <a:off x="6705747" y="446990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Head 3 · Emoji-conflict monitor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3" name="Text 48">
            <a:extLst>
              <a:ext uri="{FF2B5EF4-FFF2-40B4-BE49-F238E27FC236}">
                <a16:creationId xmlns:a16="http://schemas.microsoft.com/office/drawing/2014/main" id="{1394AEBD-9DE0-7C94-061B-39C2C0F287AE}"/>
              </a:ext>
            </a:extLst>
          </p:cNvPr>
          <p:cNvSpPr txBox="1"/>
          <p:nvPr/>
        </p:nvSpPr>
        <p:spPr>
          <a:xfrm>
            <a:off x="6705747" y="483130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 polarity vs. emoji affect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4" name="Stage 6 Soft gate">
            <a:extLst>
              <a:ext uri="{FF2B5EF4-FFF2-40B4-BE49-F238E27FC236}">
                <a16:creationId xmlns:a16="http://schemas.microsoft.com/office/drawing/2014/main" id="{2D588E6F-A6EB-239D-AA4A-B4373B025D59}"/>
              </a:ext>
            </a:extLst>
          </p:cNvPr>
          <p:cNvSpPr/>
          <p:nvPr/>
        </p:nvSpPr>
        <p:spPr>
          <a:xfrm>
            <a:off x="9061704" y="1933652"/>
            <a:ext cx="1325880" cy="2866947"/>
          </a:xfrm>
          <a:prstGeom prst="roundRect">
            <a:avLst>
              <a:gd name="adj" fmla="val 9655"/>
            </a:avLst>
          </a:prstGeom>
          <a:solidFill>
            <a:schemeClr val="bg1"/>
          </a:solidFill>
          <a:ln/>
          <a:effectLst>
            <a:outerShdw blurRad="1143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5" name="Step badge 6">
            <a:extLst>
              <a:ext uri="{FF2B5EF4-FFF2-40B4-BE49-F238E27FC236}">
                <a16:creationId xmlns:a16="http://schemas.microsoft.com/office/drawing/2014/main" id="{F9F2B745-C4A8-A990-684E-82D8DEDA80C8}"/>
              </a:ext>
            </a:extLst>
          </p:cNvPr>
          <p:cNvSpPr/>
          <p:nvPr/>
        </p:nvSpPr>
        <p:spPr>
          <a:xfrm>
            <a:off x="9526671" y="2011680"/>
            <a:ext cx="395947" cy="457200"/>
          </a:xfrm>
          <a:custGeom>
            <a:avLst/>
            <a:gdLst/>
            <a:ahLst/>
            <a:cxnLst/>
            <a:rect l="l" t="t" r="r" b="b"/>
            <a:pathLst>
              <a:path w="395947" h="457200">
                <a:moveTo>
                  <a:pt x="162338" y="20574"/>
                </a:moveTo>
                <a:quadBezTo>
                  <a:pt x="197973" y="0"/>
                  <a:pt x="233609" y="20574"/>
                </a:quadBezTo>
                <a:lnTo>
                  <a:pt x="360312" y="93726"/>
                </a:lnTo>
                <a:quadBezTo>
                  <a:pt x="395947" y="114300"/>
                  <a:pt x="395947" y="155448"/>
                </a:quadBezTo>
                <a:lnTo>
                  <a:pt x="395947" y="301752"/>
                </a:lnTo>
                <a:quadBezTo>
                  <a:pt x="395947" y="342900"/>
                  <a:pt x="360312" y="363474"/>
                </a:quadBezTo>
                <a:lnTo>
                  <a:pt x="233609" y="436626"/>
                </a:lnTo>
                <a:quadBezTo>
                  <a:pt x="197973" y="457200"/>
                  <a:pt x="162338" y="436626"/>
                </a:quadBezTo>
                <a:lnTo>
                  <a:pt x="35635" y="363474"/>
                </a:lnTo>
                <a:quadBezTo>
                  <a:pt x="0" y="342900"/>
                  <a:pt x="0" y="301752"/>
                </a:quadBezTo>
                <a:lnTo>
                  <a:pt x="0" y="155448"/>
                </a:lnTo>
                <a:quadBezTo>
                  <a:pt x="0" y="114300"/>
                  <a:pt x="35635" y="93726"/>
                </a:quadBezTo>
                <a:lnTo>
                  <a:pt x="162338" y="20574"/>
                </a:lnTo>
                <a:close/>
              </a:path>
            </a:pathLst>
          </a:custGeom>
          <a:solidFill>
            <a:srgbClr val="FFDD6E"/>
          </a:solidFill>
          <a:ln/>
        </p:spPr>
      </p:sp>
      <p:sp>
        <p:nvSpPr>
          <p:cNvPr id="226" name="Text 51">
            <a:extLst>
              <a:ext uri="{FF2B5EF4-FFF2-40B4-BE49-F238E27FC236}">
                <a16:creationId xmlns:a16="http://schemas.microsoft.com/office/drawing/2014/main" id="{3E962F12-CC77-19E7-D6B7-DFF2E67A3AFC}"/>
              </a:ext>
            </a:extLst>
          </p:cNvPr>
          <p:cNvSpPr txBox="1"/>
          <p:nvPr/>
        </p:nvSpPr>
        <p:spPr>
          <a:xfrm>
            <a:off x="9526671" y="2007108"/>
            <a:ext cx="39594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7" name="Text 52">
            <a:extLst>
              <a:ext uri="{FF2B5EF4-FFF2-40B4-BE49-F238E27FC236}">
                <a16:creationId xmlns:a16="http://schemas.microsoft.com/office/drawing/2014/main" id="{D6402BD4-DA1A-9A4A-A865-E6109895F793}"/>
              </a:ext>
            </a:extLst>
          </p:cNvPr>
          <p:cNvSpPr txBox="1"/>
          <p:nvPr/>
        </p:nvSpPr>
        <p:spPr>
          <a:xfrm>
            <a:off x="9134856" y="2606040"/>
            <a:ext cx="1179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Confidence-based soft gate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8" name="Icon badge">
            <a:extLst>
              <a:ext uri="{FF2B5EF4-FFF2-40B4-BE49-F238E27FC236}">
                <a16:creationId xmlns:a16="http://schemas.microsoft.com/office/drawing/2014/main" id="{DEB9CA91-0C5D-E404-8C69-0F093FD0D7BA}"/>
              </a:ext>
            </a:extLst>
          </p:cNvPr>
          <p:cNvSpPr/>
          <p:nvPr/>
        </p:nvSpPr>
        <p:spPr>
          <a:xfrm>
            <a:off x="9427684" y="3131820"/>
            <a:ext cx="593920" cy="685800"/>
          </a:xfrm>
          <a:custGeom>
            <a:avLst/>
            <a:gdLst/>
            <a:ahLst/>
            <a:cxnLst/>
            <a:rect l="l" t="t" r="r" b="b"/>
            <a:pathLst>
              <a:path w="593920" h="685800">
                <a:moveTo>
                  <a:pt x="243507" y="30861"/>
                </a:moveTo>
                <a:quadBezTo>
                  <a:pt x="296960" y="0"/>
                  <a:pt x="350413" y="30861"/>
                </a:quadBezTo>
                <a:lnTo>
                  <a:pt x="540467" y="140589"/>
                </a:lnTo>
                <a:quadBezTo>
                  <a:pt x="593920" y="171450"/>
                  <a:pt x="593920" y="233172"/>
                </a:quadBezTo>
                <a:lnTo>
                  <a:pt x="593920" y="452628"/>
                </a:lnTo>
                <a:quadBezTo>
                  <a:pt x="593920" y="514350"/>
                  <a:pt x="540467" y="545211"/>
                </a:quadBezTo>
                <a:lnTo>
                  <a:pt x="350413" y="654939"/>
                </a:lnTo>
                <a:quadBezTo>
                  <a:pt x="296960" y="685800"/>
                  <a:pt x="243507" y="654939"/>
                </a:quadBezTo>
                <a:lnTo>
                  <a:pt x="53453" y="545211"/>
                </a:lnTo>
                <a:quadBezTo>
                  <a:pt x="0" y="514350"/>
                  <a:pt x="0" y="452628"/>
                </a:quadBezTo>
                <a:lnTo>
                  <a:pt x="0" y="233172"/>
                </a:lnTo>
                <a:quadBezTo>
                  <a:pt x="0" y="171450"/>
                  <a:pt x="53453" y="140589"/>
                </a:quadBezTo>
                <a:lnTo>
                  <a:pt x="243507" y="30861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/>
        </p:spPr>
      </p:sp>
      <p:pic>
        <p:nvPicPr>
          <p:cNvPr id="229" name="Image 0" descr="git icon">
            <a:extLst>
              <a:ext uri="{FF2B5EF4-FFF2-40B4-BE49-F238E27FC236}">
                <a16:creationId xmlns:a16="http://schemas.microsoft.com/office/drawing/2014/main" id="{2DE33E21-393D-29A6-681A-33316B04CF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6910" y="3316986"/>
            <a:ext cx="315468" cy="315468"/>
          </a:xfrm>
          <a:prstGeom prst="rect">
            <a:avLst/>
          </a:prstGeom>
        </p:spPr>
      </p:pic>
      <p:sp>
        <p:nvSpPr>
          <p:cNvPr id="230" name="Text 54">
            <a:extLst>
              <a:ext uri="{FF2B5EF4-FFF2-40B4-BE49-F238E27FC236}">
                <a16:creationId xmlns:a16="http://schemas.microsoft.com/office/drawing/2014/main" id="{023275AF-63D0-C6AE-279B-2F130D4751A9}"/>
              </a:ext>
            </a:extLst>
          </p:cNvPr>
          <p:cNvSpPr txBox="1"/>
          <p:nvPr/>
        </p:nvSpPr>
        <p:spPr>
          <a:xfrm>
            <a:off x="9153144" y="393192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base confidence &lt; 0.60, monitors may vote Mixed feelings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1" name="Flow arrow">
            <a:extLst>
              <a:ext uri="{FF2B5EF4-FFF2-40B4-BE49-F238E27FC236}">
                <a16:creationId xmlns:a16="http://schemas.microsoft.com/office/drawing/2014/main" id="{BBDE6DA2-6BEF-7A0F-28F9-7847118CC88B}"/>
              </a:ext>
            </a:extLst>
          </p:cNvPr>
          <p:cNvSpPr/>
          <p:nvPr/>
        </p:nvSpPr>
        <p:spPr>
          <a:xfrm>
            <a:off x="8860536" y="2880360"/>
            <a:ext cx="182880" cy="320040"/>
          </a:xfrm>
          <a:prstGeom prst="line">
            <a:avLst/>
          </a:prstGeom>
          <a:noFill/>
          <a:ln w="22225">
            <a:solidFill>
              <a:srgbClr val="6B6B78"/>
            </a:solidFill>
            <a:prstDash val="solid"/>
            <a:tailEnd type="triangle"/>
          </a:ln>
        </p:spPr>
      </p:sp>
      <p:sp>
        <p:nvSpPr>
          <p:cNvPr id="232" name="Flow arrow">
            <a:extLst>
              <a:ext uri="{FF2B5EF4-FFF2-40B4-BE49-F238E27FC236}">
                <a16:creationId xmlns:a16="http://schemas.microsoft.com/office/drawing/2014/main" id="{2EC8A6AB-A31A-AD45-BD65-82FCA082D393}"/>
              </a:ext>
            </a:extLst>
          </p:cNvPr>
          <p:cNvSpPr/>
          <p:nvPr/>
        </p:nvSpPr>
        <p:spPr>
          <a:xfrm>
            <a:off x="8860536" y="3611880"/>
            <a:ext cx="201168" cy="0"/>
          </a:xfrm>
          <a:prstGeom prst="line">
            <a:avLst/>
          </a:prstGeom>
          <a:noFill/>
          <a:ln w="22225">
            <a:solidFill>
              <a:srgbClr val="6B6B78"/>
            </a:solidFill>
            <a:prstDash val="solid"/>
            <a:tailEnd type="triangle"/>
          </a:ln>
        </p:spPr>
      </p:sp>
      <p:sp>
        <p:nvSpPr>
          <p:cNvPr id="233" name="Flow arrow">
            <a:extLst>
              <a:ext uri="{FF2B5EF4-FFF2-40B4-BE49-F238E27FC236}">
                <a16:creationId xmlns:a16="http://schemas.microsoft.com/office/drawing/2014/main" id="{D7688CFB-E313-A4F6-3CB2-EADD3FB998F7}"/>
              </a:ext>
            </a:extLst>
          </p:cNvPr>
          <p:cNvSpPr/>
          <p:nvPr/>
        </p:nvSpPr>
        <p:spPr>
          <a:xfrm flipV="1">
            <a:off x="8878824" y="4343398"/>
            <a:ext cx="182880" cy="320035"/>
          </a:xfrm>
          <a:prstGeom prst="line">
            <a:avLst/>
          </a:prstGeom>
          <a:noFill/>
          <a:ln w="22225">
            <a:solidFill>
              <a:srgbClr val="6B6B78"/>
            </a:solidFill>
            <a:prstDash val="solid"/>
            <a:tailEnd type="triangle"/>
          </a:ln>
        </p:spPr>
      </p:sp>
      <p:sp>
        <p:nvSpPr>
          <p:cNvPr id="234" name="Flow arrow">
            <a:extLst>
              <a:ext uri="{FF2B5EF4-FFF2-40B4-BE49-F238E27FC236}">
                <a16:creationId xmlns:a16="http://schemas.microsoft.com/office/drawing/2014/main" id="{007C1390-E3AF-D02C-4888-FCFB2B154176}"/>
              </a:ext>
            </a:extLst>
          </p:cNvPr>
          <p:cNvSpPr/>
          <p:nvPr/>
        </p:nvSpPr>
        <p:spPr>
          <a:xfrm>
            <a:off x="10387584" y="3337560"/>
            <a:ext cx="201168" cy="0"/>
          </a:xfrm>
          <a:prstGeom prst="line">
            <a:avLst/>
          </a:prstGeom>
          <a:noFill/>
          <a:ln w="22225">
            <a:solidFill>
              <a:srgbClr val="6B6B78"/>
            </a:solidFill>
            <a:prstDash val="solid"/>
            <a:tailEnd type="triangle"/>
          </a:ln>
        </p:spPr>
      </p:sp>
      <p:sp>
        <p:nvSpPr>
          <p:cNvPr id="235" name="Stage 7 Output">
            <a:extLst>
              <a:ext uri="{FF2B5EF4-FFF2-40B4-BE49-F238E27FC236}">
                <a16:creationId xmlns:a16="http://schemas.microsoft.com/office/drawing/2014/main" id="{D0269155-7110-2D0F-7F31-6D953F84A6FE}"/>
              </a:ext>
            </a:extLst>
          </p:cNvPr>
          <p:cNvSpPr/>
          <p:nvPr/>
        </p:nvSpPr>
        <p:spPr>
          <a:xfrm>
            <a:off x="10570579" y="1920241"/>
            <a:ext cx="1280160" cy="2860564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/>
          <a:effectLst>
            <a:outerShdw blurRad="1143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6" name="Step badge 7">
            <a:extLst>
              <a:ext uri="{FF2B5EF4-FFF2-40B4-BE49-F238E27FC236}">
                <a16:creationId xmlns:a16="http://schemas.microsoft.com/office/drawing/2014/main" id="{3C3A14AB-DE19-F28F-A2A4-54E71F65B7EB}"/>
              </a:ext>
            </a:extLst>
          </p:cNvPr>
          <p:cNvSpPr/>
          <p:nvPr/>
        </p:nvSpPr>
        <p:spPr>
          <a:xfrm>
            <a:off x="11030859" y="2011680"/>
            <a:ext cx="395947" cy="457200"/>
          </a:xfrm>
          <a:custGeom>
            <a:avLst/>
            <a:gdLst/>
            <a:ahLst/>
            <a:cxnLst/>
            <a:rect l="l" t="t" r="r" b="b"/>
            <a:pathLst>
              <a:path w="395947" h="457200">
                <a:moveTo>
                  <a:pt x="162338" y="20574"/>
                </a:moveTo>
                <a:quadBezTo>
                  <a:pt x="197973" y="0"/>
                  <a:pt x="233609" y="20574"/>
                </a:quadBezTo>
                <a:lnTo>
                  <a:pt x="360312" y="93726"/>
                </a:lnTo>
                <a:quadBezTo>
                  <a:pt x="395947" y="114300"/>
                  <a:pt x="395947" y="155448"/>
                </a:quadBezTo>
                <a:lnTo>
                  <a:pt x="395947" y="301752"/>
                </a:lnTo>
                <a:quadBezTo>
                  <a:pt x="395947" y="342900"/>
                  <a:pt x="360312" y="363474"/>
                </a:quadBezTo>
                <a:lnTo>
                  <a:pt x="233609" y="436626"/>
                </a:lnTo>
                <a:quadBezTo>
                  <a:pt x="197973" y="457200"/>
                  <a:pt x="162338" y="436626"/>
                </a:quadBezTo>
                <a:lnTo>
                  <a:pt x="35635" y="363474"/>
                </a:lnTo>
                <a:quadBezTo>
                  <a:pt x="0" y="342900"/>
                  <a:pt x="0" y="301752"/>
                </a:quadBezTo>
                <a:lnTo>
                  <a:pt x="0" y="155448"/>
                </a:lnTo>
                <a:quadBezTo>
                  <a:pt x="0" y="114300"/>
                  <a:pt x="35635" y="93726"/>
                </a:quadBezTo>
                <a:lnTo>
                  <a:pt x="162338" y="20574"/>
                </a:lnTo>
                <a:close/>
              </a:path>
            </a:pathLst>
          </a:custGeom>
          <a:solidFill>
            <a:srgbClr val="99ECE3"/>
          </a:solidFill>
          <a:ln/>
        </p:spPr>
      </p:sp>
      <p:sp>
        <p:nvSpPr>
          <p:cNvPr id="237" name="Text 61">
            <a:extLst>
              <a:ext uri="{FF2B5EF4-FFF2-40B4-BE49-F238E27FC236}">
                <a16:creationId xmlns:a16="http://schemas.microsoft.com/office/drawing/2014/main" id="{F8FC3CA1-33A1-E940-C8BF-E70EE9E14615}"/>
              </a:ext>
            </a:extLst>
          </p:cNvPr>
          <p:cNvSpPr txBox="1"/>
          <p:nvPr/>
        </p:nvSpPr>
        <p:spPr>
          <a:xfrm>
            <a:off x="11044852" y="2012653"/>
            <a:ext cx="39594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8" name="Text 62">
            <a:extLst>
              <a:ext uri="{FF2B5EF4-FFF2-40B4-BE49-F238E27FC236}">
                <a16:creationId xmlns:a16="http://schemas.microsoft.com/office/drawing/2014/main" id="{DF614827-9B3C-B389-4672-D6847E9EB262}"/>
              </a:ext>
            </a:extLst>
          </p:cNvPr>
          <p:cNvSpPr txBox="1"/>
          <p:nvPr/>
        </p:nvSpPr>
        <p:spPr>
          <a:xfrm>
            <a:off x="10661904" y="2606040"/>
            <a:ext cx="1133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sentiment output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9" name="Pill Positive">
            <a:extLst>
              <a:ext uri="{FF2B5EF4-FFF2-40B4-BE49-F238E27FC236}">
                <a16:creationId xmlns:a16="http://schemas.microsoft.com/office/drawing/2014/main" id="{B3240CF1-C41F-92D7-DE22-59757A16B9CF}"/>
              </a:ext>
            </a:extLst>
          </p:cNvPr>
          <p:cNvSpPr/>
          <p:nvPr/>
        </p:nvSpPr>
        <p:spPr>
          <a:xfrm>
            <a:off x="10680192" y="3136392"/>
            <a:ext cx="1097280" cy="283464"/>
          </a:xfrm>
          <a:prstGeom prst="roundRect">
            <a:avLst>
              <a:gd name="adj" fmla="val 50000"/>
            </a:avLst>
          </a:prstGeom>
          <a:solidFill>
            <a:schemeClr val="accent3">
              <a:alpha val="70000"/>
            </a:schemeClr>
          </a:solidFill>
          <a:ln/>
        </p:spPr>
      </p:sp>
      <p:sp>
        <p:nvSpPr>
          <p:cNvPr id="240" name="Text 64">
            <a:extLst>
              <a:ext uri="{FF2B5EF4-FFF2-40B4-BE49-F238E27FC236}">
                <a16:creationId xmlns:a16="http://schemas.microsoft.com/office/drawing/2014/main" id="{8E7068D1-5746-CE12-E5B0-9A4B9CDAEBBC}"/>
              </a:ext>
            </a:extLst>
          </p:cNvPr>
          <p:cNvSpPr txBox="1"/>
          <p:nvPr/>
        </p:nvSpPr>
        <p:spPr>
          <a:xfrm>
            <a:off x="10680192" y="3136392"/>
            <a:ext cx="1097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Positive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1" name="Pill Negative">
            <a:extLst>
              <a:ext uri="{FF2B5EF4-FFF2-40B4-BE49-F238E27FC236}">
                <a16:creationId xmlns:a16="http://schemas.microsoft.com/office/drawing/2014/main" id="{5CCB794B-6D6B-669C-C398-4C01A25D6ECF}"/>
              </a:ext>
            </a:extLst>
          </p:cNvPr>
          <p:cNvSpPr/>
          <p:nvPr/>
        </p:nvSpPr>
        <p:spPr>
          <a:xfrm>
            <a:off x="10680192" y="3474720"/>
            <a:ext cx="1097280" cy="283464"/>
          </a:xfrm>
          <a:prstGeom prst="roundRect">
            <a:avLst>
              <a:gd name="adj" fmla="val 50000"/>
            </a:avLst>
          </a:prstGeom>
          <a:solidFill>
            <a:schemeClr val="accent4">
              <a:alpha val="70000"/>
            </a:schemeClr>
          </a:solidFill>
          <a:ln/>
        </p:spPr>
      </p:sp>
      <p:sp>
        <p:nvSpPr>
          <p:cNvPr id="242" name="Text 66">
            <a:extLst>
              <a:ext uri="{FF2B5EF4-FFF2-40B4-BE49-F238E27FC236}">
                <a16:creationId xmlns:a16="http://schemas.microsoft.com/office/drawing/2014/main" id="{D9DBA32C-6FE4-6956-F44D-7685EF5A2686}"/>
              </a:ext>
            </a:extLst>
          </p:cNvPr>
          <p:cNvSpPr txBox="1"/>
          <p:nvPr/>
        </p:nvSpPr>
        <p:spPr>
          <a:xfrm>
            <a:off x="10680192" y="3474720"/>
            <a:ext cx="1097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Negative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3" name="Pill Mixed feelings">
            <a:extLst>
              <a:ext uri="{FF2B5EF4-FFF2-40B4-BE49-F238E27FC236}">
                <a16:creationId xmlns:a16="http://schemas.microsoft.com/office/drawing/2014/main" id="{FCD526E3-E33C-C51C-1549-F3A6AF679830}"/>
              </a:ext>
            </a:extLst>
          </p:cNvPr>
          <p:cNvSpPr/>
          <p:nvPr/>
        </p:nvSpPr>
        <p:spPr>
          <a:xfrm>
            <a:off x="10680192" y="3813048"/>
            <a:ext cx="1097280" cy="283464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/>
        </p:spPr>
      </p:sp>
      <p:sp>
        <p:nvSpPr>
          <p:cNvPr id="244" name="Text 68">
            <a:extLst>
              <a:ext uri="{FF2B5EF4-FFF2-40B4-BE49-F238E27FC236}">
                <a16:creationId xmlns:a16="http://schemas.microsoft.com/office/drawing/2014/main" id="{6DAC8DE0-2D5B-DA60-970C-51324B6C6641}"/>
              </a:ext>
            </a:extLst>
          </p:cNvPr>
          <p:cNvSpPr txBox="1"/>
          <p:nvPr/>
        </p:nvSpPr>
        <p:spPr>
          <a:xfrm>
            <a:off x="10680192" y="3813048"/>
            <a:ext cx="1097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Mixed feelings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5" name="Pill Unknown state">
            <a:extLst>
              <a:ext uri="{FF2B5EF4-FFF2-40B4-BE49-F238E27FC236}">
                <a16:creationId xmlns:a16="http://schemas.microsoft.com/office/drawing/2014/main" id="{5C5DD3DA-1209-154D-05D6-D18E407D371E}"/>
              </a:ext>
            </a:extLst>
          </p:cNvPr>
          <p:cNvSpPr/>
          <p:nvPr/>
        </p:nvSpPr>
        <p:spPr>
          <a:xfrm>
            <a:off x="10680192" y="4151376"/>
            <a:ext cx="1097280" cy="283464"/>
          </a:xfrm>
          <a:prstGeom prst="roundRect">
            <a:avLst>
              <a:gd name="adj" fmla="val 50000"/>
            </a:avLst>
          </a:prstGeom>
          <a:solidFill>
            <a:schemeClr val="accent1">
              <a:alpha val="70000"/>
            </a:schemeClr>
          </a:solidFill>
          <a:ln/>
        </p:spPr>
      </p:sp>
      <p:sp>
        <p:nvSpPr>
          <p:cNvPr id="246" name="Text 70">
            <a:extLst>
              <a:ext uri="{FF2B5EF4-FFF2-40B4-BE49-F238E27FC236}">
                <a16:creationId xmlns:a16="http://schemas.microsoft.com/office/drawing/2014/main" id="{71AF38EE-1776-3841-8A96-37A38042CAE6}"/>
              </a:ext>
            </a:extLst>
          </p:cNvPr>
          <p:cNvSpPr txBox="1"/>
          <p:nvPr/>
        </p:nvSpPr>
        <p:spPr>
          <a:xfrm>
            <a:off x="10680192" y="4151376"/>
            <a:ext cx="1097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Unknown state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7" name="Text 71">
            <a:extLst>
              <a:ext uri="{FF2B5EF4-FFF2-40B4-BE49-F238E27FC236}">
                <a16:creationId xmlns:a16="http://schemas.microsoft.com/office/drawing/2014/main" id="{C816059D-6002-B328-2424-5A08D8E7E939}"/>
              </a:ext>
            </a:extLst>
          </p:cNvPr>
          <p:cNvSpPr txBox="1"/>
          <p:nvPr/>
        </p:nvSpPr>
        <p:spPr>
          <a:xfrm>
            <a:off x="439102" y="5753085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i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Soft-gate rule: monitors (Head 2, Head 3) may switch the output to Mixed feelings only when Head 1 confidence is below 0.60.</a:t>
            </a:r>
            <a:endParaRPr lang="en-US" sz="16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8" name="Slide Number Placeholder 0">
            <a:extLst>
              <a:ext uri="{FF2B5EF4-FFF2-40B4-BE49-F238E27FC236}">
                <a16:creationId xmlns:a16="http://schemas.microsoft.com/office/drawing/2014/main" id="{BB430B64-8C16-FB19-92D7-C8915CFF68D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55680" y="6519672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6B78"/>
                </a:solidFill>
              </a:defRPr>
            </a:lvl1pPr>
          </a:lstStyle>
          <a:p>
            <a:pPr algn="r"/>
            <a:fld id="{F7021451-1387-4CA6-816F-3879F97B5CBC}" type="slidenum">
              <a:rPr lang="en-US" sz="1200" b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457200" y="219456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DATASET, FEASIBILITY &amp; SETUP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457200" y="475488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Dataset, Feasibility and Experimental Setup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ecor dot"/>
          <p:cNvSpPr/>
          <p:nvPr/>
        </p:nvSpPr>
        <p:spPr>
          <a:xfrm>
            <a:off x="411480" y="566928"/>
            <a:ext cx="128016" cy="12801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5" name="Decor dot"/>
          <p:cNvSpPr/>
          <p:nvPr/>
        </p:nvSpPr>
        <p:spPr>
          <a:xfrm>
            <a:off x="11475720" y="347472"/>
            <a:ext cx="109728" cy="10972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6" name="Dataset distribution card"/>
          <p:cNvSpPr/>
          <p:nvPr/>
        </p:nvSpPr>
        <p:spPr>
          <a:xfrm>
            <a:off x="411480" y="1234440"/>
            <a:ext cx="3566160" cy="2752344"/>
          </a:xfrm>
          <a:prstGeom prst="roundRect">
            <a:avLst>
              <a:gd name="adj" fmla="val 4516"/>
            </a:avLst>
          </a:prstGeom>
          <a:solidFill>
            <a:schemeClr val="bg1"/>
          </a:solidFill>
          <a:ln/>
          <a:effectLst>
            <a:outerShdw blurRad="1143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594360" y="133502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distribution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594360" y="15819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= 20,000 comments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Chart 0" descr="Doughnut chart: Positive 69.56%, Negative 13.22%, Mixed feelings 11.67%, Unknown state 5.55%"/>
          <p:cNvGraphicFramePr/>
          <p:nvPr>
            <p:extLst>
              <p:ext uri="{D42A27DB-BD31-4B8C-83A1-F6EECF244321}">
                <p14:modId xmlns:p14="http://schemas.microsoft.com/office/powerpoint/2010/main" val="3288194145"/>
              </p:ext>
            </p:extLst>
          </p:nvPr>
        </p:nvGraphicFramePr>
        <p:xfrm>
          <a:off x="502920" y="1828800"/>
          <a:ext cx="338328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Workflow step 1"/>
          <p:cNvSpPr/>
          <p:nvPr/>
        </p:nvSpPr>
        <p:spPr>
          <a:xfrm>
            <a:off x="4206240" y="1234440"/>
            <a:ext cx="1280160" cy="1051560"/>
          </a:xfrm>
          <a:prstGeom prst="roundRect">
            <a:avLst>
              <a:gd name="adj" fmla="val 12174"/>
            </a:avLst>
          </a:prstGeom>
          <a:solidFill>
            <a:schemeClr val="bg1"/>
          </a:solidFill>
          <a:ln/>
          <a:effectLst>
            <a:outerShdw blurRad="1143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tep badge 1"/>
          <p:cNvSpPr/>
          <p:nvPr/>
        </p:nvSpPr>
        <p:spPr>
          <a:xfrm>
            <a:off x="4319731" y="1325880"/>
            <a:ext cx="285082" cy="329184"/>
          </a:xfrm>
          <a:custGeom>
            <a:avLst/>
            <a:gdLst/>
            <a:ahLst/>
            <a:cxnLst/>
            <a:rect l="l" t="t" r="r" b="b"/>
            <a:pathLst>
              <a:path w="285082" h="329184">
                <a:moveTo>
                  <a:pt x="116883" y="14813"/>
                </a:moveTo>
                <a:quadBezTo>
                  <a:pt x="142541" y="0"/>
                  <a:pt x="168198" y="14813"/>
                </a:quadBezTo>
                <a:lnTo>
                  <a:pt x="259424" y="67483"/>
                </a:lnTo>
                <a:quadBezTo>
                  <a:pt x="285082" y="82296"/>
                  <a:pt x="285082" y="111923"/>
                </a:quadBezTo>
                <a:lnTo>
                  <a:pt x="285082" y="217261"/>
                </a:lnTo>
                <a:quadBezTo>
                  <a:pt x="285082" y="246888"/>
                  <a:pt x="259424" y="261701"/>
                </a:quadBezTo>
                <a:lnTo>
                  <a:pt x="168198" y="314371"/>
                </a:lnTo>
                <a:quadBezTo>
                  <a:pt x="142541" y="329184"/>
                  <a:pt x="116883" y="314371"/>
                </a:quadBezTo>
                <a:lnTo>
                  <a:pt x="25657" y="261701"/>
                </a:lnTo>
                <a:quadBezTo>
                  <a:pt x="0" y="246888"/>
                  <a:pt x="0" y="217261"/>
                </a:quadBezTo>
                <a:lnTo>
                  <a:pt x="0" y="111923"/>
                </a:lnTo>
                <a:quadBezTo>
                  <a:pt x="0" y="82296"/>
                  <a:pt x="25657" y="67483"/>
                </a:quadBezTo>
                <a:lnTo>
                  <a:pt x="116883" y="14813"/>
                </a:lnTo>
                <a:close/>
              </a:path>
            </a:pathLst>
          </a:custGeom>
          <a:solidFill>
            <a:schemeClr val="accent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319731" y="1325880"/>
            <a:ext cx="2850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 txBox="1"/>
          <p:nvPr/>
        </p:nvSpPr>
        <p:spPr>
          <a:xfrm>
            <a:off x="4681728" y="1362456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 txBox="1"/>
          <p:nvPr/>
        </p:nvSpPr>
        <p:spPr>
          <a:xfrm>
            <a:off x="4555594" y="1636776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20,000 Tanglish comments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Flow arrow"/>
          <p:cNvSpPr/>
          <p:nvPr/>
        </p:nvSpPr>
        <p:spPr>
          <a:xfrm>
            <a:off x="5504688" y="1760220"/>
            <a:ext cx="256032" cy="0"/>
          </a:xfrm>
          <a:prstGeom prst="line">
            <a:avLst/>
          </a:prstGeom>
          <a:noFill/>
          <a:ln w="19050">
            <a:solidFill>
              <a:srgbClr val="6B6B78"/>
            </a:solidFill>
            <a:prstDash val="solid"/>
            <a:tailEnd type="triangle"/>
          </a:ln>
        </p:spPr>
      </p:sp>
      <p:sp>
        <p:nvSpPr>
          <p:cNvPr id="16" name="Workflow step 2"/>
          <p:cNvSpPr/>
          <p:nvPr/>
        </p:nvSpPr>
        <p:spPr>
          <a:xfrm>
            <a:off x="5779008" y="1234440"/>
            <a:ext cx="1280160" cy="1051560"/>
          </a:xfrm>
          <a:prstGeom prst="roundRect">
            <a:avLst>
              <a:gd name="adj" fmla="val 12174"/>
            </a:avLst>
          </a:prstGeom>
          <a:solidFill>
            <a:schemeClr val="bg1"/>
          </a:solidFill>
          <a:ln/>
          <a:effectLst>
            <a:outerShdw blurRad="1143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tep badge 2"/>
          <p:cNvSpPr/>
          <p:nvPr/>
        </p:nvSpPr>
        <p:spPr>
          <a:xfrm>
            <a:off x="5892499" y="1325880"/>
            <a:ext cx="285082" cy="329184"/>
          </a:xfrm>
          <a:custGeom>
            <a:avLst/>
            <a:gdLst/>
            <a:ahLst/>
            <a:cxnLst/>
            <a:rect l="l" t="t" r="r" b="b"/>
            <a:pathLst>
              <a:path w="285082" h="329184">
                <a:moveTo>
                  <a:pt x="116883" y="14813"/>
                </a:moveTo>
                <a:quadBezTo>
                  <a:pt x="142541" y="0"/>
                  <a:pt x="168198" y="14813"/>
                </a:quadBezTo>
                <a:lnTo>
                  <a:pt x="259424" y="67483"/>
                </a:lnTo>
                <a:quadBezTo>
                  <a:pt x="285082" y="82296"/>
                  <a:pt x="285082" y="111923"/>
                </a:quadBezTo>
                <a:lnTo>
                  <a:pt x="285082" y="217261"/>
                </a:lnTo>
                <a:quadBezTo>
                  <a:pt x="285082" y="246888"/>
                  <a:pt x="259424" y="261701"/>
                </a:quadBezTo>
                <a:lnTo>
                  <a:pt x="168198" y="314371"/>
                </a:lnTo>
                <a:quadBezTo>
                  <a:pt x="142541" y="329184"/>
                  <a:pt x="116883" y="314371"/>
                </a:quadBezTo>
                <a:lnTo>
                  <a:pt x="25657" y="261701"/>
                </a:lnTo>
                <a:quadBezTo>
                  <a:pt x="0" y="246888"/>
                  <a:pt x="0" y="217261"/>
                </a:quadBezTo>
                <a:lnTo>
                  <a:pt x="0" y="111923"/>
                </a:lnTo>
                <a:quadBezTo>
                  <a:pt x="0" y="82296"/>
                  <a:pt x="25657" y="67483"/>
                </a:quadBezTo>
                <a:lnTo>
                  <a:pt x="116883" y="14813"/>
                </a:lnTo>
                <a:close/>
              </a:path>
            </a:pathLst>
          </a:custGeom>
          <a:solidFill>
            <a:schemeClr val="accent1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5892499" y="1325880"/>
            <a:ext cx="2850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6"/>
          <p:cNvSpPr txBox="1"/>
          <p:nvPr/>
        </p:nvSpPr>
        <p:spPr>
          <a:xfrm>
            <a:off x="6254496" y="1362456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Split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7"/>
          <p:cNvSpPr txBox="1"/>
          <p:nvPr/>
        </p:nvSpPr>
        <p:spPr>
          <a:xfrm>
            <a:off x="6140196" y="1682927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Stratified 75:25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Flow arrow"/>
          <p:cNvSpPr/>
          <p:nvPr/>
        </p:nvSpPr>
        <p:spPr>
          <a:xfrm>
            <a:off x="7077456" y="1760220"/>
            <a:ext cx="256032" cy="0"/>
          </a:xfrm>
          <a:prstGeom prst="line">
            <a:avLst/>
          </a:prstGeom>
          <a:noFill/>
          <a:ln w="19050">
            <a:solidFill>
              <a:srgbClr val="6B6B78"/>
            </a:solidFill>
            <a:prstDash val="solid"/>
            <a:tailEnd type="triangle"/>
          </a:ln>
        </p:spPr>
      </p:sp>
      <p:sp>
        <p:nvSpPr>
          <p:cNvPr id="22" name="Workflow step 3"/>
          <p:cNvSpPr/>
          <p:nvPr/>
        </p:nvSpPr>
        <p:spPr>
          <a:xfrm>
            <a:off x="7339942" y="1242894"/>
            <a:ext cx="1280160" cy="1051560"/>
          </a:xfrm>
          <a:prstGeom prst="roundRect">
            <a:avLst>
              <a:gd name="adj" fmla="val 12174"/>
            </a:avLst>
          </a:prstGeom>
          <a:solidFill>
            <a:schemeClr val="bg1"/>
          </a:solidFill>
          <a:ln/>
          <a:effectLst>
            <a:outerShdw blurRad="1143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tep badge 3"/>
          <p:cNvSpPr/>
          <p:nvPr/>
        </p:nvSpPr>
        <p:spPr>
          <a:xfrm>
            <a:off x="7465267" y="1325880"/>
            <a:ext cx="285082" cy="329184"/>
          </a:xfrm>
          <a:custGeom>
            <a:avLst/>
            <a:gdLst/>
            <a:ahLst/>
            <a:cxnLst/>
            <a:rect l="l" t="t" r="r" b="b"/>
            <a:pathLst>
              <a:path w="285082" h="329184">
                <a:moveTo>
                  <a:pt x="116883" y="14813"/>
                </a:moveTo>
                <a:quadBezTo>
                  <a:pt x="142541" y="0"/>
                  <a:pt x="168198" y="14813"/>
                </a:quadBezTo>
                <a:lnTo>
                  <a:pt x="259424" y="67483"/>
                </a:lnTo>
                <a:quadBezTo>
                  <a:pt x="285082" y="82296"/>
                  <a:pt x="285082" y="111923"/>
                </a:quadBezTo>
                <a:lnTo>
                  <a:pt x="285082" y="217261"/>
                </a:lnTo>
                <a:quadBezTo>
                  <a:pt x="285082" y="246888"/>
                  <a:pt x="259424" y="261701"/>
                </a:quadBezTo>
                <a:lnTo>
                  <a:pt x="168198" y="314371"/>
                </a:lnTo>
                <a:quadBezTo>
                  <a:pt x="142541" y="329184"/>
                  <a:pt x="116883" y="314371"/>
                </a:quadBezTo>
                <a:lnTo>
                  <a:pt x="25657" y="261701"/>
                </a:lnTo>
                <a:quadBezTo>
                  <a:pt x="0" y="246888"/>
                  <a:pt x="0" y="217261"/>
                </a:quadBezTo>
                <a:lnTo>
                  <a:pt x="0" y="111923"/>
                </a:lnTo>
                <a:quadBezTo>
                  <a:pt x="0" y="82296"/>
                  <a:pt x="25657" y="67483"/>
                </a:quadBezTo>
                <a:lnTo>
                  <a:pt x="116883" y="14813"/>
                </a:lnTo>
                <a:close/>
              </a:path>
            </a:pathLst>
          </a:custGeom>
          <a:solidFill>
            <a:schemeClr val="accent4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7465267" y="1325880"/>
            <a:ext cx="2850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2"/>
          <p:cNvSpPr txBox="1"/>
          <p:nvPr/>
        </p:nvSpPr>
        <p:spPr>
          <a:xfrm>
            <a:off x="7827264" y="1362456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Partition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3"/>
          <p:cNvSpPr txBox="1"/>
          <p:nvPr/>
        </p:nvSpPr>
        <p:spPr>
          <a:xfrm>
            <a:off x="7662672" y="1677751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15,000 train · 5,000 test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Flow arrow"/>
          <p:cNvSpPr/>
          <p:nvPr/>
        </p:nvSpPr>
        <p:spPr>
          <a:xfrm>
            <a:off x="8650224" y="1760220"/>
            <a:ext cx="256032" cy="0"/>
          </a:xfrm>
          <a:prstGeom prst="line">
            <a:avLst/>
          </a:prstGeom>
          <a:noFill/>
          <a:ln w="19050">
            <a:solidFill>
              <a:srgbClr val="6B6B78"/>
            </a:solidFill>
            <a:prstDash val="solid"/>
            <a:tailEnd type="triangle"/>
          </a:ln>
        </p:spPr>
      </p:sp>
      <p:sp>
        <p:nvSpPr>
          <p:cNvPr id="28" name="Workflow step 4"/>
          <p:cNvSpPr/>
          <p:nvPr/>
        </p:nvSpPr>
        <p:spPr>
          <a:xfrm>
            <a:off x="8924544" y="1234440"/>
            <a:ext cx="1280160" cy="1051560"/>
          </a:xfrm>
          <a:prstGeom prst="roundRect">
            <a:avLst>
              <a:gd name="adj" fmla="val 12174"/>
            </a:avLst>
          </a:prstGeom>
          <a:solidFill>
            <a:schemeClr val="bg1"/>
          </a:solidFill>
          <a:ln/>
          <a:effectLst>
            <a:outerShdw blurRad="1143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tep badge 4"/>
          <p:cNvSpPr/>
          <p:nvPr/>
        </p:nvSpPr>
        <p:spPr>
          <a:xfrm>
            <a:off x="9038035" y="1325880"/>
            <a:ext cx="285082" cy="329184"/>
          </a:xfrm>
          <a:custGeom>
            <a:avLst/>
            <a:gdLst/>
            <a:ahLst/>
            <a:cxnLst/>
            <a:rect l="l" t="t" r="r" b="b"/>
            <a:pathLst>
              <a:path w="285082" h="329184">
                <a:moveTo>
                  <a:pt x="116883" y="14813"/>
                </a:moveTo>
                <a:quadBezTo>
                  <a:pt x="142541" y="0"/>
                  <a:pt x="168198" y="14813"/>
                </a:quadBezTo>
                <a:lnTo>
                  <a:pt x="259424" y="67483"/>
                </a:lnTo>
                <a:quadBezTo>
                  <a:pt x="285082" y="82296"/>
                  <a:pt x="285082" y="111923"/>
                </a:quadBezTo>
                <a:lnTo>
                  <a:pt x="285082" y="217261"/>
                </a:lnTo>
                <a:quadBezTo>
                  <a:pt x="285082" y="246888"/>
                  <a:pt x="259424" y="261701"/>
                </a:quadBezTo>
                <a:lnTo>
                  <a:pt x="168198" y="314371"/>
                </a:lnTo>
                <a:quadBezTo>
                  <a:pt x="142541" y="329184"/>
                  <a:pt x="116883" y="314371"/>
                </a:quadBezTo>
                <a:lnTo>
                  <a:pt x="25657" y="261701"/>
                </a:lnTo>
                <a:quadBezTo>
                  <a:pt x="0" y="246888"/>
                  <a:pt x="0" y="217261"/>
                </a:quadBezTo>
                <a:lnTo>
                  <a:pt x="0" y="111923"/>
                </a:lnTo>
                <a:quadBezTo>
                  <a:pt x="0" y="82296"/>
                  <a:pt x="25657" y="67483"/>
                </a:quadBezTo>
                <a:lnTo>
                  <a:pt x="116883" y="14813"/>
                </a:lnTo>
                <a:close/>
              </a:path>
            </a:pathLst>
          </a:custGeom>
          <a:solidFill>
            <a:schemeClr val="accent2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9038035" y="1325880"/>
            <a:ext cx="2850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8"/>
          <p:cNvSpPr txBox="1"/>
          <p:nvPr/>
        </p:nvSpPr>
        <p:spPr>
          <a:xfrm>
            <a:off x="9400032" y="1362456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29"/>
          <p:cNvSpPr txBox="1"/>
          <p:nvPr/>
        </p:nvSpPr>
        <p:spPr>
          <a:xfrm>
            <a:off x="9235440" y="1678010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 compared models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Flow arrow"/>
          <p:cNvSpPr/>
          <p:nvPr/>
        </p:nvSpPr>
        <p:spPr>
          <a:xfrm>
            <a:off x="10222992" y="1760220"/>
            <a:ext cx="256032" cy="0"/>
          </a:xfrm>
          <a:prstGeom prst="line">
            <a:avLst/>
          </a:prstGeom>
          <a:noFill/>
          <a:ln w="19050">
            <a:solidFill>
              <a:srgbClr val="6B6B78"/>
            </a:solidFill>
            <a:prstDash val="solid"/>
            <a:tailEnd type="triangle"/>
          </a:ln>
        </p:spPr>
      </p:sp>
      <p:sp>
        <p:nvSpPr>
          <p:cNvPr id="34" name="Workflow step 5"/>
          <p:cNvSpPr/>
          <p:nvPr/>
        </p:nvSpPr>
        <p:spPr>
          <a:xfrm>
            <a:off x="10497312" y="1234440"/>
            <a:ext cx="1280160" cy="1051560"/>
          </a:xfrm>
          <a:prstGeom prst="roundRect">
            <a:avLst>
              <a:gd name="adj" fmla="val 12174"/>
            </a:avLst>
          </a:prstGeom>
          <a:solidFill>
            <a:schemeClr val="bg1"/>
          </a:solidFill>
          <a:ln/>
          <a:effectLst>
            <a:outerShdw blurRad="1143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tep badge 5"/>
          <p:cNvSpPr/>
          <p:nvPr/>
        </p:nvSpPr>
        <p:spPr>
          <a:xfrm>
            <a:off x="10610803" y="1325880"/>
            <a:ext cx="285082" cy="329184"/>
          </a:xfrm>
          <a:custGeom>
            <a:avLst/>
            <a:gdLst/>
            <a:ahLst/>
            <a:cxnLst/>
            <a:rect l="l" t="t" r="r" b="b"/>
            <a:pathLst>
              <a:path w="285082" h="329184">
                <a:moveTo>
                  <a:pt x="116883" y="14813"/>
                </a:moveTo>
                <a:quadBezTo>
                  <a:pt x="142541" y="0"/>
                  <a:pt x="168198" y="14813"/>
                </a:quadBezTo>
                <a:lnTo>
                  <a:pt x="259424" y="67483"/>
                </a:lnTo>
                <a:quadBezTo>
                  <a:pt x="285082" y="82296"/>
                  <a:pt x="285082" y="111923"/>
                </a:quadBezTo>
                <a:lnTo>
                  <a:pt x="285082" y="217261"/>
                </a:lnTo>
                <a:quadBezTo>
                  <a:pt x="285082" y="246888"/>
                  <a:pt x="259424" y="261701"/>
                </a:quadBezTo>
                <a:lnTo>
                  <a:pt x="168198" y="314371"/>
                </a:lnTo>
                <a:quadBezTo>
                  <a:pt x="142541" y="329184"/>
                  <a:pt x="116883" y="314371"/>
                </a:quadBezTo>
                <a:lnTo>
                  <a:pt x="25657" y="261701"/>
                </a:lnTo>
                <a:quadBezTo>
                  <a:pt x="0" y="246888"/>
                  <a:pt x="0" y="217261"/>
                </a:quadBezTo>
                <a:lnTo>
                  <a:pt x="0" y="111923"/>
                </a:lnTo>
                <a:quadBezTo>
                  <a:pt x="0" y="82296"/>
                  <a:pt x="25657" y="67483"/>
                </a:quadBezTo>
                <a:lnTo>
                  <a:pt x="116883" y="14813"/>
                </a:lnTo>
                <a:close/>
              </a:path>
            </a:pathLst>
          </a:custGeom>
          <a:solidFill>
            <a:schemeClr val="accent3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10610803" y="1325880"/>
            <a:ext cx="2850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4"/>
          <p:cNvSpPr txBox="1"/>
          <p:nvPr/>
        </p:nvSpPr>
        <p:spPr>
          <a:xfrm>
            <a:off x="10972800" y="1362456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5"/>
          <p:cNvSpPr txBox="1"/>
          <p:nvPr/>
        </p:nvSpPr>
        <p:spPr>
          <a:xfrm>
            <a:off x="10815487" y="1687068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Held-out test, N = 5,000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538116"/>
              </p:ext>
            </p:extLst>
          </p:nvPr>
        </p:nvGraphicFramePr>
        <p:xfrm>
          <a:off x="4206240" y="2450592"/>
          <a:ext cx="3703320" cy="1645920"/>
        </p:xfrm>
        <a:graphic>
          <a:graphicData uri="http://schemas.openxmlformats.org/drawingml/2006/table">
            <a:tbl>
              <a:tblPr/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295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Class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6B3F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Total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6B3F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Train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6B3F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Test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6B3F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95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Positive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13,912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10,434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3,478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95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Negative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2,644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1,983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661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95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Mixed feelings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2,334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1,750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584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295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Unknown state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1,110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833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277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295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Total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20,000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15,000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5,000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0" name="Experimental setup card"/>
          <p:cNvSpPr/>
          <p:nvPr/>
        </p:nvSpPr>
        <p:spPr>
          <a:xfrm>
            <a:off x="8092440" y="2450592"/>
            <a:ext cx="3685032" cy="1618488"/>
          </a:xfrm>
          <a:prstGeom prst="roundRect">
            <a:avLst>
              <a:gd name="adj" fmla="val 7910"/>
            </a:avLst>
          </a:prstGeom>
          <a:solidFill>
            <a:schemeClr val="bg1"/>
          </a:solidFill>
          <a:ln/>
          <a:effectLst>
            <a:outerShdw blurRad="1143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1" name="Text 37"/>
          <p:cNvSpPr txBox="1"/>
          <p:nvPr/>
        </p:nvSpPr>
        <p:spPr>
          <a:xfrm>
            <a:off x="8247888" y="253288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Standard laptop, no GPU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Pill 8-core CPU"/>
          <p:cNvSpPr/>
          <p:nvPr/>
        </p:nvSpPr>
        <p:spPr>
          <a:xfrm>
            <a:off x="8247888" y="2816352"/>
            <a:ext cx="1024128" cy="256032"/>
          </a:xfrm>
          <a:prstGeom prst="roundRect">
            <a:avLst>
              <a:gd name="adj" fmla="val 50000"/>
            </a:avLst>
          </a:prstGeom>
          <a:solidFill>
            <a:schemeClr val="accent3">
              <a:alpha val="65000"/>
            </a:schemeClr>
          </a:solidFill>
          <a:ln/>
        </p:spPr>
      </p:sp>
      <p:sp>
        <p:nvSpPr>
          <p:cNvPr id="43" name="Text 39"/>
          <p:cNvSpPr txBox="1"/>
          <p:nvPr/>
        </p:nvSpPr>
        <p:spPr>
          <a:xfrm>
            <a:off x="8247888" y="2816352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8-core CPU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Pill 16 GB RAM"/>
          <p:cNvSpPr/>
          <p:nvPr/>
        </p:nvSpPr>
        <p:spPr>
          <a:xfrm>
            <a:off x="9363456" y="2816352"/>
            <a:ext cx="1024128" cy="256032"/>
          </a:xfrm>
          <a:prstGeom prst="roundRect">
            <a:avLst>
              <a:gd name="adj" fmla="val 50000"/>
            </a:avLst>
          </a:prstGeom>
          <a:solidFill>
            <a:schemeClr val="accent1">
              <a:alpha val="65000"/>
            </a:schemeClr>
          </a:solidFill>
          <a:ln/>
        </p:spPr>
      </p:sp>
      <p:sp>
        <p:nvSpPr>
          <p:cNvPr id="45" name="Text 41"/>
          <p:cNvSpPr txBox="1"/>
          <p:nvPr/>
        </p:nvSpPr>
        <p:spPr>
          <a:xfrm>
            <a:off x="9363456" y="2816352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 GB RAM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Pill No GPU"/>
          <p:cNvSpPr/>
          <p:nvPr/>
        </p:nvSpPr>
        <p:spPr>
          <a:xfrm>
            <a:off x="10479024" y="2816352"/>
            <a:ext cx="1024128" cy="256032"/>
          </a:xfrm>
          <a:prstGeom prst="roundRect">
            <a:avLst>
              <a:gd name="adj" fmla="val 50000"/>
            </a:avLst>
          </a:prstGeom>
          <a:solidFill>
            <a:schemeClr val="accent4">
              <a:alpha val="65000"/>
            </a:schemeClr>
          </a:solidFill>
          <a:ln/>
        </p:spPr>
      </p:sp>
      <p:sp>
        <p:nvSpPr>
          <p:cNvPr id="47" name="Text 43"/>
          <p:cNvSpPr txBox="1"/>
          <p:nvPr/>
        </p:nvSpPr>
        <p:spPr>
          <a:xfrm>
            <a:off x="10479024" y="2816352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GPU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 44"/>
          <p:cNvSpPr txBox="1"/>
          <p:nvPr/>
        </p:nvSpPr>
        <p:spPr>
          <a:xfrm>
            <a:off x="8247888" y="320040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Compared models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Pill TF-IDF + LR"/>
          <p:cNvSpPr/>
          <p:nvPr/>
        </p:nvSpPr>
        <p:spPr>
          <a:xfrm>
            <a:off x="8247888" y="3456432"/>
            <a:ext cx="1051560" cy="237744"/>
          </a:xfrm>
          <a:prstGeom prst="roundRect">
            <a:avLst>
              <a:gd name="adj" fmla="val 50000"/>
            </a:avLst>
          </a:prstGeom>
          <a:solidFill>
            <a:schemeClr val="accent1">
              <a:alpha val="40000"/>
            </a:schemeClr>
          </a:solidFill>
          <a:ln/>
        </p:spPr>
      </p:sp>
      <p:sp>
        <p:nvSpPr>
          <p:cNvPr id="50" name="Text 46"/>
          <p:cNvSpPr txBox="1"/>
          <p:nvPr/>
        </p:nvSpPr>
        <p:spPr>
          <a:xfrm>
            <a:off x="8247888" y="3456432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TF-IDF + LR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Pill BiLSTM"/>
          <p:cNvSpPr/>
          <p:nvPr/>
        </p:nvSpPr>
        <p:spPr>
          <a:xfrm>
            <a:off x="9372600" y="3456432"/>
            <a:ext cx="822960" cy="237744"/>
          </a:xfrm>
          <a:prstGeom prst="roundRect">
            <a:avLst>
              <a:gd name="adj" fmla="val 50000"/>
            </a:avLst>
          </a:prstGeom>
          <a:solidFill>
            <a:schemeClr val="accent1">
              <a:alpha val="40000"/>
            </a:schemeClr>
          </a:solidFill>
          <a:ln/>
        </p:spPr>
      </p:sp>
      <p:sp>
        <p:nvSpPr>
          <p:cNvPr id="52" name="Text 48"/>
          <p:cNvSpPr txBox="1"/>
          <p:nvPr/>
        </p:nvSpPr>
        <p:spPr>
          <a:xfrm>
            <a:off x="9372600" y="345643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BiLSTM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Pill CNN + BiLSTM"/>
          <p:cNvSpPr/>
          <p:nvPr/>
        </p:nvSpPr>
        <p:spPr>
          <a:xfrm>
            <a:off x="10268712" y="3456432"/>
            <a:ext cx="1371600" cy="237744"/>
          </a:xfrm>
          <a:prstGeom prst="roundRect">
            <a:avLst>
              <a:gd name="adj" fmla="val 50000"/>
            </a:avLst>
          </a:prstGeom>
          <a:solidFill>
            <a:schemeClr val="accent1">
              <a:alpha val="40000"/>
            </a:schemeClr>
          </a:solidFill>
          <a:ln/>
        </p:spPr>
      </p:sp>
      <p:sp>
        <p:nvSpPr>
          <p:cNvPr id="54" name="Text 50"/>
          <p:cNvSpPr txBox="1"/>
          <p:nvPr/>
        </p:nvSpPr>
        <p:spPr>
          <a:xfrm>
            <a:off x="10268712" y="345643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CNN + BiLSTM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Pill ConG-Hybrid"/>
          <p:cNvSpPr/>
          <p:nvPr/>
        </p:nvSpPr>
        <p:spPr>
          <a:xfrm>
            <a:off x="8247888" y="3749040"/>
            <a:ext cx="1188720" cy="237744"/>
          </a:xfrm>
          <a:prstGeom prst="roundRect">
            <a:avLst>
              <a:gd name="adj" fmla="val 50000"/>
            </a:avLst>
          </a:prstGeom>
          <a:solidFill>
            <a:schemeClr val="accent1">
              <a:alpha val="40000"/>
            </a:schemeClr>
          </a:solidFill>
          <a:ln/>
        </p:spPr>
      </p:sp>
      <p:sp>
        <p:nvSpPr>
          <p:cNvPr id="56" name="Text 52"/>
          <p:cNvSpPr txBox="1"/>
          <p:nvPr/>
        </p:nvSpPr>
        <p:spPr>
          <a:xfrm>
            <a:off x="8247888" y="374904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ConG-Hybrid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Pill ConG-MoE v2"/>
          <p:cNvSpPr/>
          <p:nvPr/>
        </p:nvSpPr>
        <p:spPr>
          <a:xfrm>
            <a:off x="9509760" y="3749040"/>
            <a:ext cx="1280160" cy="237744"/>
          </a:xfrm>
          <a:prstGeom prst="roundRect">
            <a:avLst>
              <a:gd name="adj" fmla="val 50000"/>
            </a:avLst>
          </a:prstGeom>
          <a:solidFill>
            <a:schemeClr val="accent2">
              <a:alpha val="75000"/>
            </a:schemeClr>
          </a:solidFill>
          <a:ln/>
        </p:spPr>
      </p:sp>
      <p:sp>
        <p:nvSpPr>
          <p:cNvPr id="58" name="Text 54"/>
          <p:cNvSpPr txBox="1"/>
          <p:nvPr/>
        </p:nvSpPr>
        <p:spPr>
          <a:xfrm>
            <a:off x="9509760" y="374904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ConG-MoE v2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Text 55"/>
          <p:cNvSpPr txBox="1"/>
          <p:nvPr/>
        </p:nvSpPr>
        <p:spPr>
          <a:xfrm>
            <a:off x="411480" y="42519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u="sng" kern="0" spc="150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OPERATIONAL CHALLENGES AND MITIGATION</a:t>
            </a:r>
            <a:endParaRPr lang="en-US" sz="16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Challenge 1"/>
          <p:cNvSpPr/>
          <p:nvPr/>
        </p:nvSpPr>
        <p:spPr>
          <a:xfrm>
            <a:off x="411480" y="4553712"/>
            <a:ext cx="2656332" cy="841248"/>
          </a:xfrm>
          <a:prstGeom prst="roundRect">
            <a:avLst>
              <a:gd name="adj" fmla="val 13043"/>
            </a:avLst>
          </a:prstGeom>
          <a:solidFill>
            <a:schemeClr val="accent4">
              <a:alpha val="22000"/>
            </a:schemeClr>
          </a:solidFill>
          <a:ln/>
        </p:spPr>
      </p:sp>
      <p:sp>
        <p:nvSpPr>
          <p:cNvPr id="61" name="Text 57"/>
          <p:cNvSpPr txBox="1"/>
          <p:nvPr/>
        </p:nvSpPr>
        <p:spPr>
          <a:xfrm>
            <a:off x="539496" y="4617720"/>
            <a:ext cx="2400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u="sng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imbalance</a:t>
            </a:r>
            <a:endParaRPr lang="en-US" sz="1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Text 58"/>
          <p:cNvSpPr txBox="1"/>
          <p:nvPr/>
        </p:nvSpPr>
        <p:spPr>
          <a:xfrm>
            <a:off x="539496" y="4855464"/>
            <a:ext cx="24003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69.56% Positive: 75.00% of Mixed collapse into Positive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Flow arrow"/>
          <p:cNvSpPr/>
          <p:nvPr/>
        </p:nvSpPr>
        <p:spPr>
          <a:xfrm>
            <a:off x="1739646" y="5413248"/>
            <a:ext cx="0" cy="146304"/>
          </a:xfrm>
          <a:prstGeom prst="line">
            <a:avLst/>
          </a:prstGeom>
          <a:noFill/>
          <a:ln w="19050">
            <a:solidFill>
              <a:srgbClr val="6B6B78"/>
            </a:solidFill>
            <a:prstDash val="solid"/>
            <a:tailEnd type="triangle"/>
          </a:ln>
        </p:spPr>
      </p:sp>
      <p:sp>
        <p:nvSpPr>
          <p:cNvPr id="64" name="Mitigation 1"/>
          <p:cNvSpPr/>
          <p:nvPr/>
        </p:nvSpPr>
        <p:spPr>
          <a:xfrm>
            <a:off x="411480" y="5577840"/>
            <a:ext cx="2656332" cy="804672"/>
          </a:xfrm>
          <a:prstGeom prst="roundRect">
            <a:avLst>
              <a:gd name="adj" fmla="val 13636"/>
            </a:avLst>
          </a:prstGeom>
          <a:solidFill>
            <a:schemeClr val="accent3">
              <a:alpha val="30000"/>
            </a:schemeClr>
          </a:solidFill>
          <a:ln/>
        </p:spPr>
      </p:sp>
      <p:sp>
        <p:nvSpPr>
          <p:cNvPr id="65" name="Text 61"/>
          <p:cNvSpPr txBox="1"/>
          <p:nvPr/>
        </p:nvSpPr>
        <p:spPr>
          <a:xfrm>
            <a:off x="539496" y="5614589"/>
            <a:ext cx="24003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u="sng" kern="0" spc="1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Mitigation</a:t>
            </a:r>
            <a:endParaRPr lang="en-US" sz="1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Text 62"/>
          <p:cNvSpPr txBox="1"/>
          <p:nvPr/>
        </p:nvSpPr>
        <p:spPr>
          <a:xfrm>
            <a:off x="539496" y="5815584"/>
            <a:ext cx="24003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Inverse-frequency weights: Pos 0.36 · Neg 1.89 · Mix 2.14 · Unk 4.50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Challenge 2"/>
          <p:cNvSpPr/>
          <p:nvPr/>
        </p:nvSpPr>
        <p:spPr>
          <a:xfrm>
            <a:off x="3314700" y="4553712"/>
            <a:ext cx="2656332" cy="841248"/>
          </a:xfrm>
          <a:prstGeom prst="roundRect">
            <a:avLst>
              <a:gd name="adj" fmla="val 13043"/>
            </a:avLst>
          </a:prstGeom>
          <a:solidFill>
            <a:schemeClr val="accent4">
              <a:alpha val="22000"/>
            </a:schemeClr>
          </a:solidFill>
          <a:ln/>
        </p:spPr>
      </p:sp>
      <p:sp>
        <p:nvSpPr>
          <p:cNvPr id="68" name="Text 64"/>
          <p:cNvSpPr txBox="1"/>
          <p:nvPr/>
        </p:nvSpPr>
        <p:spPr>
          <a:xfrm>
            <a:off x="3442716" y="4617720"/>
            <a:ext cx="2400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u="sng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Spelling variation</a:t>
            </a:r>
            <a:endParaRPr lang="en-US" sz="1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Text 65"/>
          <p:cNvSpPr txBox="1"/>
          <p:nvPr/>
        </p:nvSpPr>
        <p:spPr>
          <a:xfrm>
            <a:off x="3442716" y="4855464"/>
            <a:ext cx="24003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85.8% word OOV on a 242,337-entry Tamil dictionary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Flow arrow"/>
          <p:cNvSpPr/>
          <p:nvPr/>
        </p:nvSpPr>
        <p:spPr>
          <a:xfrm>
            <a:off x="4642866" y="5413248"/>
            <a:ext cx="0" cy="146304"/>
          </a:xfrm>
          <a:prstGeom prst="line">
            <a:avLst/>
          </a:prstGeom>
          <a:noFill/>
          <a:ln w="19050">
            <a:solidFill>
              <a:srgbClr val="6B6B78"/>
            </a:solidFill>
            <a:prstDash val="solid"/>
            <a:tailEnd type="triangle"/>
          </a:ln>
        </p:spPr>
      </p:sp>
      <p:sp>
        <p:nvSpPr>
          <p:cNvPr id="71" name="Mitigation 2"/>
          <p:cNvSpPr/>
          <p:nvPr/>
        </p:nvSpPr>
        <p:spPr>
          <a:xfrm>
            <a:off x="3314700" y="5577840"/>
            <a:ext cx="2656332" cy="804672"/>
          </a:xfrm>
          <a:prstGeom prst="roundRect">
            <a:avLst>
              <a:gd name="adj" fmla="val 13636"/>
            </a:avLst>
          </a:prstGeom>
          <a:solidFill>
            <a:schemeClr val="accent3">
              <a:alpha val="30000"/>
            </a:schemeClr>
          </a:solidFill>
          <a:ln/>
        </p:spPr>
      </p:sp>
      <p:sp>
        <p:nvSpPr>
          <p:cNvPr id="72" name="Text 68"/>
          <p:cNvSpPr txBox="1"/>
          <p:nvPr/>
        </p:nvSpPr>
        <p:spPr>
          <a:xfrm>
            <a:off x="3442716" y="5614589"/>
            <a:ext cx="24003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u="sng" kern="0" spc="1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Mitigation</a:t>
            </a:r>
            <a:endParaRPr lang="en-US" sz="1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Text 69"/>
          <p:cNvSpPr txBox="1"/>
          <p:nvPr/>
        </p:nvSpPr>
        <p:spPr>
          <a:xfrm>
            <a:off x="3442716" y="5815584"/>
            <a:ext cx="24003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Word-bounded character n-grams (char_wb, n = 2–4, 25k dims)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Challenge 3"/>
          <p:cNvSpPr/>
          <p:nvPr/>
        </p:nvSpPr>
        <p:spPr>
          <a:xfrm>
            <a:off x="6217920" y="4553712"/>
            <a:ext cx="2656332" cy="841248"/>
          </a:xfrm>
          <a:prstGeom prst="roundRect">
            <a:avLst>
              <a:gd name="adj" fmla="val 13043"/>
            </a:avLst>
          </a:prstGeom>
          <a:solidFill>
            <a:schemeClr val="accent4">
              <a:alpha val="22000"/>
            </a:schemeClr>
          </a:solidFill>
          <a:ln/>
        </p:spPr>
      </p:sp>
      <p:sp>
        <p:nvSpPr>
          <p:cNvPr id="75" name="Text 71"/>
          <p:cNvSpPr txBox="1"/>
          <p:nvPr/>
        </p:nvSpPr>
        <p:spPr>
          <a:xfrm>
            <a:off x="6345936" y="4617720"/>
            <a:ext cx="2400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u="sng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Polarity shifts</a:t>
            </a:r>
            <a:endParaRPr lang="en-US" sz="1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Text 72"/>
          <p:cNvSpPr txBox="1"/>
          <p:nvPr/>
        </p:nvSpPr>
        <p:spPr>
          <a:xfrm>
            <a:off x="6345936" y="4855464"/>
            <a:ext cx="24003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Positive unigrams overpower the negative clause after a pivot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Flow arrow"/>
          <p:cNvSpPr/>
          <p:nvPr/>
        </p:nvSpPr>
        <p:spPr>
          <a:xfrm>
            <a:off x="7546086" y="5413248"/>
            <a:ext cx="0" cy="146304"/>
          </a:xfrm>
          <a:prstGeom prst="line">
            <a:avLst/>
          </a:prstGeom>
          <a:noFill/>
          <a:ln w="19050">
            <a:solidFill>
              <a:srgbClr val="6B6B78"/>
            </a:solidFill>
            <a:prstDash val="solid"/>
            <a:tailEnd type="triangle"/>
          </a:ln>
        </p:spPr>
      </p:sp>
      <p:sp>
        <p:nvSpPr>
          <p:cNvPr id="78" name="Mitigation 3"/>
          <p:cNvSpPr/>
          <p:nvPr/>
        </p:nvSpPr>
        <p:spPr>
          <a:xfrm>
            <a:off x="6217920" y="5577840"/>
            <a:ext cx="2656332" cy="804672"/>
          </a:xfrm>
          <a:prstGeom prst="roundRect">
            <a:avLst>
              <a:gd name="adj" fmla="val 13636"/>
            </a:avLst>
          </a:prstGeom>
          <a:solidFill>
            <a:schemeClr val="accent3">
              <a:alpha val="30000"/>
            </a:schemeClr>
          </a:solidFill>
          <a:ln/>
        </p:spPr>
      </p:sp>
      <p:sp>
        <p:nvSpPr>
          <p:cNvPr id="79" name="Text 75"/>
          <p:cNvSpPr txBox="1"/>
          <p:nvPr/>
        </p:nvSpPr>
        <p:spPr>
          <a:xfrm>
            <a:off x="6345936" y="5614244"/>
            <a:ext cx="24003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u="sng" kern="0" spc="1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Mitigation</a:t>
            </a:r>
            <a:endParaRPr lang="en-US" sz="1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Text 76"/>
          <p:cNvSpPr txBox="1"/>
          <p:nvPr/>
        </p:nvSpPr>
        <p:spPr>
          <a:xfrm>
            <a:off x="6345936" y="5815584"/>
            <a:ext cx="24003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Head 2: contrastive conjunction monitor (τ = 0.60)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Challenge 4"/>
          <p:cNvSpPr/>
          <p:nvPr/>
        </p:nvSpPr>
        <p:spPr>
          <a:xfrm>
            <a:off x="9121140" y="4553712"/>
            <a:ext cx="2656332" cy="841248"/>
          </a:xfrm>
          <a:prstGeom prst="roundRect">
            <a:avLst>
              <a:gd name="adj" fmla="val 13043"/>
            </a:avLst>
          </a:prstGeom>
          <a:solidFill>
            <a:schemeClr val="accent4">
              <a:alpha val="22000"/>
            </a:schemeClr>
          </a:solidFill>
          <a:ln/>
        </p:spPr>
      </p:sp>
      <p:sp>
        <p:nvSpPr>
          <p:cNvPr id="82" name="Text 78"/>
          <p:cNvSpPr txBox="1"/>
          <p:nvPr/>
        </p:nvSpPr>
        <p:spPr>
          <a:xfrm>
            <a:off x="9249156" y="4617720"/>
            <a:ext cx="2400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u="sng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Emoji–text conflicts</a:t>
            </a:r>
            <a:endParaRPr lang="en-US" sz="1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Text 79"/>
          <p:cNvSpPr txBox="1"/>
          <p:nvPr/>
        </p:nvSpPr>
        <p:spPr>
          <a:xfrm>
            <a:off x="9249156" y="4855464"/>
            <a:ext cx="24003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Stripping emojis erases sarcastic or opposing sentiment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Flow arrow"/>
          <p:cNvSpPr/>
          <p:nvPr/>
        </p:nvSpPr>
        <p:spPr>
          <a:xfrm>
            <a:off x="10449306" y="5413248"/>
            <a:ext cx="0" cy="146304"/>
          </a:xfrm>
          <a:prstGeom prst="line">
            <a:avLst/>
          </a:prstGeom>
          <a:noFill/>
          <a:ln w="19050">
            <a:solidFill>
              <a:srgbClr val="6B6B78"/>
            </a:solidFill>
            <a:prstDash val="solid"/>
            <a:tailEnd type="triangle"/>
          </a:ln>
        </p:spPr>
      </p:sp>
      <p:sp>
        <p:nvSpPr>
          <p:cNvPr id="85" name="Mitigation 4"/>
          <p:cNvSpPr/>
          <p:nvPr/>
        </p:nvSpPr>
        <p:spPr>
          <a:xfrm>
            <a:off x="9121140" y="5577840"/>
            <a:ext cx="2656332" cy="804672"/>
          </a:xfrm>
          <a:prstGeom prst="roundRect">
            <a:avLst>
              <a:gd name="adj" fmla="val 13636"/>
            </a:avLst>
          </a:prstGeom>
          <a:solidFill>
            <a:schemeClr val="accent3">
              <a:alpha val="30000"/>
            </a:schemeClr>
          </a:solidFill>
          <a:ln/>
        </p:spPr>
      </p:sp>
      <p:sp>
        <p:nvSpPr>
          <p:cNvPr id="86" name="Text 82"/>
          <p:cNvSpPr txBox="1"/>
          <p:nvPr/>
        </p:nvSpPr>
        <p:spPr>
          <a:xfrm>
            <a:off x="9249156" y="5605273"/>
            <a:ext cx="24003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u="sng" kern="0" spc="1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Mitigation</a:t>
            </a:r>
            <a:endParaRPr lang="en-US" sz="1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Text 83"/>
          <p:cNvSpPr txBox="1"/>
          <p:nvPr/>
        </p:nvSpPr>
        <p:spPr>
          <a:xfrm>
            <a:off x="9249156" y="5815584"/>
            <a:ext cx="24003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Affect-preserving demojization + Head 3 emoji-conflict monitor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19672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6B78"/>
                </a:solidFill>
              </a:defRPr>
            </a:lvl1pPr>
          </a:lstStyle>
          <a:p>
            <a:pPr algn="r"/>
            <a:fld id="{F7021451-1387-4CA6-816F-3879F97B5CBC}" type="slidenum">
              <a:rPr lang="en-US" sz="1400" b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457200" y="219456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RESULTS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457200" y="475488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Performance Benchmark and Comparative Impact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ecor dot"/>
          <p:cNvSpPr/>
          <p:nvPr/>
        </p:nvSpPr>
        <p:spPr>
          <a:xfrm>
            <a:off x="411480" y="566928"/>
            <a:ext cx="128016" cy="12801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5" name="Decor dot"/>
          <p:cNvSpPr/>
          <p:nvPr/>
        </p:nvSpPr>
        <p:spPr>
          <a:xfrm>
            <a:off x="11475720" y="347472"/>
            <a:ext cx="109728" cy="10972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6" name="Chart card 1"/>
          <p:cNvSpPr/>
          <p:nvPr/>
        </p:nvSpPr>
        <p:spPr>
          <a:xfrm>
            <a:off x="411480" y="1188720"/>
            <a:ext cx="3666744" cy="2423160"/>
          </a:xfrm>
          <a:prstGeom prst="roundRect">
            <a:avLst>
              <a:gd name="adj" fmla="val 5283"/>
            </a:avLst>
          </a:prstGeom>
          <a:solidFill>
            <a:schemeClr val="bg1"/>
          </a:solidFill>
          <a:ln/>
          <a:effectLst>
            <a:outerShdw blurRad="1143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594360" y="1280160"/>
            <a:ext cx="3300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Accuracy (%)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594360" y="1517904"/>
            <a:ext cx="3300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Held-out test, N = 5,000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Chart 0" descr="Accuracy (%) by model: TF-IDF + LR 77.6%, BiLSTM 78.86%, CNN + BiLSTM 86.12%, ConG-Hybrid 69.3%, ConG-MoE v2 77.48%"/>
          <p:cNvGraphicFramePr/>
          <p:nvPr>
            <p:extLst>
              <p:ext uri="{D42A27DB-BD31-4B8C-83A1-F6EECF244321}">
                <p14:modId xmlns:p14="http://schemas.microsoft.com/office/powerpoint/2010/main" val="1707451532"/>
              </p:ext>
            </p:extLst>
          </p:nvPr>
        </p:nvGraphicFramePr>
        <p:xfrm>
          <a:off x="457200" y="1737360"/>
          <a:ext cx="3529584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Chart card 2"/>
          <p:cNvSpPr/>
          <p:nvPr/>
        </p:nvSpPr>
        <p:spPr>
          <a:xfrm>
            <a:off x="4261104" y="1188720"/>
            <a:ext cx="3666744" cy="2423160"/>
          </a:xfrm>
          <a:prstGeom prst="roundRect">
            <a:avLst>
              <a:gd name="adj" fmla="val 5283"/>
            </a:avLst>
          </a:prstGeom>
          <a:solidFill>
            <a:schemeClr val="bg1"/>
          </a:solidFill>
          <a:ln/>
          <a:effectLst>
            <a:outerShdw blurRad="1143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4443984" y="1280160"/>
            <a:ext cx="3300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Mixed-feelings recall (%)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 txBox="1"/>
          <p:nvPr/>
        </p:nvSpPr>
        <p:spPr>
          <a:xfrm>
            <a:off x="4443984" y="1517904"/>
            <a:ext cx="3300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Higher is better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3" name="Chart 1" descr="Mixed-feelings recall (%) by model: TF-IDF + LR 20.55%, BiLSTM 40.24%, CNN + BiLSTM 64.55%, ConG-Hybrid 82.19%, ConG-MoE v2 74.49%"/>
          <p:cNvGraphicFramePr/>
          <p:nvPr>
            <p:extLst>
              <p:ext uri="{D42A27DB-BD31-4B8C-83A1-F6EECF244321}">
                <p14:modId xmlns:p14="http://schemas.microsoft.com/office/powerpoint/2010/main" val="706238890"/>
              </p:ext>
            </p:extLst>
          </p:nvPr>
        </p:nvGraphicFramePr>
        <p:xfrm>
          <a:off x="4306824" y="1737360"/>
          <a:ext cx="3529584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4" name="Chart card 3"/>
          <p:cNvSpPr/>
          <p:nvPr/>
        </p:nvSpPr>
        <p:spPr>
          <a:xfrm>
            <a:off x="8110728" y="1188720"/>
            <a:ext cx="3666744" cy="2423160"/>
          </a:xfrm>
          <a:prstGeom prst="roundRect">
            <a:avLst>
              <a:gd name="adj" fmla="val 5283"/>
            </a:avLst>
          </a:prstGeom>
          <a:solidFill>
            <a:schemeClr val="bg1"/>
          </a:solidFill>
          <a:ln/>
          <a:effectLst>
            <a:outerShdw blurRad="1143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1"/>
          <p:cNvSpPr txBox="1"/>
          <p:nvPr/>
        </p:nvSpPr>
        <p:spPr>
          <a:xfrm>
            <a:off x="8293608" y="1280160"/>
            <a:ext cx="3300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Mixed → Positive collapse (%)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2"/>
          <p:cNvSpPr txBox="1"/>
          <p:nvPr/>
        </p:nvSpPr>
        <p:spPr>
          <a:xfrm>
            <a:off x="8293608" y="1517904"/>
            <a:ext cx="3300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Lower is better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7" name="Chart 2" descr="Mixed → Positive collapse (%) by model: TF-IDF + LR 75%, BiLSTM 43.84%, CNN + BiLSTM 28.42%, ConG-Hybrid 8.73%, ConG-MoE v2 14.04%"/>
          <p:cNvGraphicFramePr/>
          <p:nvPr>
            <p:extLst>
              <p:ext uri="{D42A27DB-BD31-4B8C-83A1-F6EECF244321}">
                <p14:modId xmlns:p14="http://schemas.microsoft.com/office/powerpoint/2010/main" val="656935057"/>
              </p:ext>
            </p:extLst>
          </p:nvPr>
        </p:nvGraphicFramePr>
        <p:xfrm>
          <a:off x="8156448" y="1737360"/>
          <a:ext cx="3529584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8764649"/>
              </p:ext>
            </p:extLst>
          </p:nvPr>
        </p:nvGraphicFramePr>
        <p:xfrm>
          <a:off x="411480" y="3767327"/>
          <a:ext cx="7516368" cy="2886692"/>
        </p:xfrm>
        <a:graphic>
          <a:graphicData uri="http://schemas.openxmlformats.org/drawingml/2006/table">
            <a:tbl>
              <a:tblPr/>
              <a:tblGrid>
                <a:gridCol w="2108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7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82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82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995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625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Model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6B3F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Accuracy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6B3F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Macro-F1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6B3F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Mixed recall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6B3F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Mixed→Positive collapse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6B3F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CPU latency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6B3F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72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TF-IDF + Logistic Regression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77.60%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0.5256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20.55%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75.00%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0.007 ms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72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BiLSTM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78.86%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0.6168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40.24%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43.84%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0.555 ms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72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CNN + BiLSTM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86.12%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0.7578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64.55%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28.42%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1.987 ms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72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ConG-Hybrid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69.30%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0.6476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82.19%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8.73%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1.870 ms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172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ConG-MoE v2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D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77.48%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D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0.6887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D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74.49%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D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14.04%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D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262626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0.328 ms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D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0" name="Text 14"/>
          <p:cNvSpPr txBox="1"/>
          <p:nvPr/>
        </p:nvSpPr>
        <p:spPr>
          <a:xfrm>
            <a:off x="2505456" y="5568696"/>
            <a:ext cx="7132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19672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6B78"/>
                </a:solidFill>
              </a:defRPr>
            </a:lvl1pPr>
          </a:lstStyle>
          <a:p>
            <a:pPr algn="r"/>
            <a:fld id="{F7021451-1387-4CA6-816F-3879F97B5CBC}" type="slidenum">
              <a:rPr lang="en-US" sz="1400" b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rade-off card"/>
          <p:cNvSpPr/>
          <p:nvPr/>
        </p:nvSpPr>
        <p:spPr>
          <a:xfrm>
            <a:off x="8430768" y="3831336"/>
            <a:ext cx="3182112" cy="2807208"/>
          </a:xfrm>
          <a:prstGeom prst="roundRect">
            <a:avLst>
              <a:gd name="adj" fmla="val 15217"/>
            </a:avLst>
          </a:prstGeom>
          <a:solidFill>
            <a:schemeClr val="accent1">
              <a:alpha val="30000"/>
            </a:schemeClr>
          </a:solidFill>
          <a:ln/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NOTE: Trade-off.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+ </a:t>
            </a:r>
            <a:r>
              <a:rPr lang="en-US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BiLSTM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 the highest held-out accuracy (86.12%) and Macro-F1 (0.7578). </a:t>
            </a:r>
            <a:r>
              <a:rPr lang="en-US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ConG-MoE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v2 gives up raw accuracy to lift Mixed recall from 20.55% to 74.49% and cut </a:t>
            </a:r>
            <a:r>
              <a:rPr lang="en-US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Mixed→Positive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collapse from 75.00% to 14.04%, at 0.328 </a:t>
            </a:r>
            <a:r>
              <a:rPr lang="en-US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CPU latency.</a:t>
            </a:r>
          </a:p>
          <a:p>
            <a:pPr>
              <a:lnSpc>
                <a:spcPct val="150000"/>
              </a:lnSpc>
            </a:pPr>
            <a:endParaRPr lang="en-IN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457200" y="219456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457200" y="475488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Limitations and References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ecor dot"/>
          <p:cNvSpPr/>
          <p:nvPr/>
        </p:nvSpPr>
        <p:spPr>
          <a:xfrm>
            <a:off x="411480" y="566928"/>
            <a:ext cx="128016" cy="12801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5" name="Decor dot"/>
          <p:cNvSpPr/>
          <p:nvPr/>
        </p:nvSpPr>
        <p:spPr>
          <a:xfrm>
            <a:off x="11475720" y="347472"/>
            <a:ext cx="109728" cy="10972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33" name="Trade-off card"/>
          <p:cNvSpPr/>
          <p:nvPr/>
        </p:nvSpPr>
        <p:spPr>
          <a:xfrm>
            <a:off x="834864" y="1264891"/>
            <a:ext cx="4105138" cy="1297759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/>
          <a:effectLst>
            <a:outerShdw blurRad="1143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Text 28"/>
          <p:cNvSpPr txBox="1"/>
          <p:nvPr/>
        </p:nvSpPr>
        <p:spPr>
          <a:xfrm>
            <a:off x="923544" y="1354068"/>
            <a:ext cx="387274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COST-SENSITIVE TRADE-OFF</a:t>
            </a:r>
            <a:endParaRPr lang="en-US" sz="15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29"/>
          <p:cNvSpPr txBox="1"/>
          <p:nvPr/>
        </p:nvSpPr>
        <p:spPr>
          <a:xfrm>
            <a:off x="1017745" y="1742257"/>
            <a:ext cx="362326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Overall accuracy is 77.48% (77.60% baseline, 86.12% CNN + BiLSTM) in exchange for 74.49% Mixed recall and 80.51% Unknown recall.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Limitations card"/>
          <p:cNvSpPr/>
          <p:nvPr/>
        </p:nvSpPr>
        <p:spPr>
          <a:xfrm>
            <a:off x="6525797" y="1264891"/>
            <a:ext cx="4246268" cy="1311819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/>
          <a:effectLst>
            <a:outerShdw blurRad="1143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Text 31"/>
          <p:cNvSpPr txBox="1"/>
          <p:nvPr/>
        </p:nvSpPr>
        <p:spPr>
          <a:xfrm>
            <a:off x="6681504" y="1354068"/>
            <a:ext cx="3867051" cy="337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  <a:endParaRPr lang="en-US" sz="15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2"/>
          <p:cNvSpPr txBox="1"/>
          <p:nvPr/>
        </p:nvSpPr>
        <p:spPr>
          <a:xfrm>
            <a:off x="6749307" y="1732122"/>
            <a:ext cx="37992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conjunction monitors depend on manually curated linguistic knowledge; transfer to other code-mixed languages needs adapted pivot lexicons.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References card"/>
          <p:cNvSpPr/>
          <p:nvPr/>
        </p:nvSpPr>
        <p:spPr>
          <a:xfrm>
            <a:off x="429768" y="2866946"/>
            <a:ext cx="11365992" cy="3643582"/>
          </a:xfrm>
          <a:prstGeom prst="roundRect">
            <a:avLst>
              <a:gd name="adj" fmla="val 5833"/>
            </a:avLst>
          </a:prstGeom>
          <a:solidFill>
            <a:schemeClr val="bg1"/>
          </a:solidFill>
          <a:ln/>
          <a:effectLst>
            <a:outerShdw blurRad="1143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0" name="Text 34"/>
          <p:cNvSpPr txBox="1"/>
          <p:nvPr/>
        </p:nvSpPr>
        <p:spPr>
          <a:xfrm>
            <a:off x="2232343" y="2945285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5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US" sz="15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35"/>
          <p:cNvSpPr txBox="1"/>
          <p:nvPr/>
        </p:nvSpPr>
        <p:spPr>
          <a:xfrm>
            <a:off x="834864" y="3439135"/>
            <a:ext cx="5157504" cy="2599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[1] P. Bojanowski, E. Grave, A. </a:t>
            </a:r>
            <a:r>
              <a:rPr lang="en-US" sz="13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Joulin</a:t>
            </a:r>
            <a:r>
              <a:rPr lang="en-US" sz="13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T. </a:t>
            </a:r>
            <a:r>
              <a:rPr lang="en-US" sz="13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Mikolov</a:t>
            </a:r>
            <a:r>
              <a:rPr lang="en-US" sz="13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“Enriching word vectors with </a:t>
            </a:r>
            <a:r>
              <a:rPr lang="en-US" sz="13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subword</a:t>
            </a:r>
            <a:r>
              <a:rPr lang="en-US" sz="13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information,” Trans. Assoc. </a:t>
            </a:r>
            <a:r>
              <a:rPr lang="en-US" sz="13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</a:t>
            </a:r>
            <a:r>
              <a:rPr lang="en-US" sz="13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Linguist. (TACL), vol. 5, pp. 135–146, 2017.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[2] B. R. Chakravarthi, V. </a:t>
            </a:r>
            <a:r>
              <a:rPr lang="en-US" sz="13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Muralidaran</a:t>
            </a:r>
            <a:r>
              <a:rPr lang="en-US" sz="13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R. Priyadharshini, and S. </a:t>
            </a:r>
            <a:r>
              <a:rPr lang="en-US" sz="13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Suryawanshi</a:t>
            </a:r>
            <a:r>
              <a:rPr lang="en-US" sz="13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“Corpus creation for sentiment analysis in code-mixed Tamil-English text,” in Proc. 1st Joint Workshop SLTU-CCURL, 2020, pp. 202–210.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[3] B. R. Chakravarthi et al., “Overview of the </a:t>
            </a:r>
            <a:r>
              <a:rPr lang="en-US" sz="13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DravidianLangTech</a:t>
            </a:r>
            <a:r>
              <a:rPr lang="en-US" sz="13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2021 shared task on sentiment analysis in Tamil, Malayalam, and Kannada,” in Proc. 11th Int. Workshop Health Text Mining Inf. Anal., 2021, pp. 35–45.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[4] B. Premjith, K. P. Soman, and P. Poornachandran, “A </a:t>
            </a:r>
            <a:r>
              <a:rPr lang="en-US" sz="13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subword</a:t>
            </a:r>
            <a:r>
              <a:rPr lang="en-US" sz="13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-level deep learning architecture for sentiment analysis of code-mixed text,” in </a:t>
            </a:r>
            <a:r>
              <a:rPr lang="en-US" sz="13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DravidianLangTech</a:t>
            </a:r>
            <a:r>
              <a:rPr lang="en-US" sz="13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Workshop, 2020, pp. 14–22.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 36"/>
          <p:cNvSpPr txBox="1"/>
          <p:nvPr/>
        </p:nvSpPr>
        <p:spPr>
          <a:xfrm>
            <a:off x="6135624" y="3429000"/>
            <a:ext cx="5394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[5] R. Sennrich, B. Haddow, and A. Birch, “Neural machine translation of rare words with subword units,” in Proc. 54th Annu. Meeting Assoc. Comput. Linguist. (ACL), 2016, pp. 1715–1725.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[6] V. Srivastava and A. Singh, “PHAST: Phonetic aware sub-word tokenization for Dravidian code-mixed languages,” in Proc. DravidianLangTech, 2021, pp. 11–20.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[7] V. Bhatia, “Tanglish comments for sentiment analysis dataset,” Kaggle Datasets, 2021.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[8] K. Shanmugavadivel et al., “Hybrid CNN-BiLSTM architecture for Dravidian code-mixed social media sentiment analysis,” in Proc. Int. Conf. Comput. Intell. Pattern Recognit., 2023, pp. 112–124.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19672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6B78"/>
                </a:solidFill>
              </a:defRPr>
            </a:lvl1pPr>
          </a:lstStyle>
          <a:p>
            <a:pPr algn="r"/>
            <a:fld id="{F7021451-1387-4CA6-816F-3879F97B5CBC}" type="slidenum">
              <a:rPr lang="en-US" sz="1200" b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anglish Research">
  <a:themeElements>
    <a:clrScheme name="Tanglish Research">
      <a:dk1>
        <a:srgbClr val="262626"/>
      </a:dk1>
      <a:lt1>
        <a:srgbClr val="FFFFFF"/>
      </a:lt1>
      <a:dk2>
        <a:srgbClr val="6B6B78"/>
      </a:dk2>
      <a:lt2>
        <a:srgbClr val="FAF8F5"/>
      </a:lt2>
      <a:accent1>
        <a:srgbClr val="FFDD6E"/>
      </a:accent1>
      <a:accent2>
        <a:srgbClr val="9365D5"/>
      </a:accent2>
      <a:accent3>
        <a:srgbClr val="6EE4D7"/>
      </a:accent3>
      <a:accent4>
        <a:srgbClr val="FF9247"/>
      </a:accent4>
      <a:accent5>
        <a:srgbClr val="D9650F"/>
      </a:accent5>
      <a:accent6>
        <a:srgbClr val="138F83"/>
      </a:accent6>
      <a:hlink>
        <a:srgbClr val="6B3FB5"/>
      </a:hlink>
      <a:folHlink>
        <a:srgbClr val="6B3FB5"/>
      </a:folHlink>
    </a:clrScheme>
    <a:fontScheme name="Tanglish Research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1476</Words>
  <Application>Microsoft Office PowerPoint</Application>
  <PresentationFormat>Widescreen</PresentationFormat>
  <Paragraphs>238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Times New Roman</vt:lpstr>
      <vt:lpstr>Tanglish Research</vt:lpstr>
      <vt:lpstr>PowerPoint Presentation</vt:lpstr>
      <vt:lpstr>Problem Statement, Motivation &amp; Proposed Solution</vt:lpstr>
      <vt:lpstr>ConG-MoE v2: Tanglish Sentiment Classification Pipeline</vt:lpstr>
      <vt:lpstr>Dataset, Feasibility and Experimental Setup</vt:lpstr>
      <vt:lpstr>Performance Benchmark and Comparative Impact</vt:lpstr>
      <vt:lpstr>Limitations and References</vt:lpstr>
    </vt:vector>
  </TitlesOfParts>
  <Company>Karpagam College of Engineering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Mitigating Majority-Class Bias in Code-Mixed Tanglish Sentiment Classification</dc:title>
  <dc:subject>PptxGenJS Presentation</dc:subject>
  <dc:creator>Pragadheeshwar D, Sriram G S, Cibi K, Sathiyarajan K</dc:creator>
  <cp:lastModifiedBy>Cibi K</cp:lastModifiedBy>
  <cp:revision>3</cp:revision>
  <dcterms:created xsi:type="dcterms:W3CDTF">2026-10-22T05:08:19Z</dcterms:created>
  <dcterms:modified xsi:type="dcterms:W3CDTF">2026-10-22T08:44:36Z</dcterms:modified>
</cp:coreProperties>
</file>